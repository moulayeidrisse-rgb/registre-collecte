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92e7029-907a-d9f3-9c18-2dd66a1506e6}">
          <p14:sldIdLst>
            <p14:sldId id="256"/>
            <p14:sldId id="257"/>
            <p14:sldId id="258"/>
          </p14:sldIdLst>
        </p14:section>
        <p14:section name="Fonctionnalités" id="{28fe8668-20f3-8f24-b8b5-29641041cc28}">
          <p14:sldIdLst>
            <p14:sldId id="259"/>
            <p14:sldId id="260"/>
            <p14:sldId id="261"/>
            <p14:sldId id="262"/>
          </p14:sldIdLst>
        </p14:section>
        <p14:section name="Contrôle, sécurité et restitution" id="{5a9779a2-a77c-0071-67ff-015a528e0638}">
          <p14:sldIdLst>
            <p14:sldId id="263"/>
            <p14:sldId id="264"/>
            <p14:sldId id="265"/>
            <p14:sldId id="266"/>
            <p14:sldId id="267"/>
          </p14:sldIdLst>
        </p14:section>
        <p14:section name="Conclusion" id="{dac0d1fd-4b5d-52c2-aa0d-aed547ac92d0}">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prototype : une application web qui couvre tout le cycle de la donnée, de la conception du formulaire jusqu'à l'export. Toutes les données affichées sont fictives.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modules couvrent l'ensemble du besoin exprimé. Insister sur la transparence : c'est un prototype générique, à réaligner sur les TDR quand ils seront disponibles.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fil conducteur de la démonstration. L'étape 3 est automatique : aucun humain n'intervient, le serveur contrôle chaque enregistrement.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clé pour un partenaire technique : les contrôles d'accès sont côté serveur. Les tests automatisés vérifient les accès directs par URL et par appel d'API.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Aucun chiffre n'est écrit en dur. Un agent ne voit que ses saisies, un superviseur ses formulaires, l'administrateur tout. Chaque graphique est doublé d'un tableau de données (accessibilité).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possible en direct : créer un formulaire en deux minutes. Le versionnement protège l'historique : modifier un formulaire publié crée une nouvelle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réel : 900 ménages déclarés pour un maximum de 500, et une cause de panne manquante alors que le point d'eau ne fonctionne pas. La soumission est bloquée avec des messages précis.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erreurs bloquent, les avertissements laissent passer mais alertent le superviseur. Le tableau de bord recense toutes les anomalies en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changement de statut est enregistré dans le journal d'audit et visible dans l'historique de la réponse. Une réponse validée n'est plus modifiable par l'agent, et ce contrôle est fait côté serveur.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Mesures en place dans le prototype. Aucune certification n'est revendiquée : un audit de sécurité et un audit d'accessibilité restent à faire avant tout usage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L'export respecte les droits : un superviseur n'exporte que ses formulaires, un agent ne peut pas exporter. Chaque export est tracé dans le journal d'audit.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arabe, toute la mise en page s'inverse (menu à droite). La police arabe est intégrée à l'application, sans service externe.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ces tests ont été exécutés et passent. Les données sont réellement enregistrées dans PostgreSQL ; rien n'est simulé.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Être transparent sur les limites renforce la crédibilité. Les prochaines étapes dépendent surtout des TDR.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Proposer une démonstration en direct en suivant le scénario de 15 minutes (docs/SCENARIO_DEMO.md). Toutes les données sont fictives.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85216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429000"/>
            <a:ext cx="5852160" cy="1188720"/>
          </a:xfrm>
          <a:prstGeom prst="rect">
            <a:avLst/>
          </a:prstGeom>
          <a:noFill/>
          <a:ln/>
        </p:spPr>
        <p:txBody>
          <a:bodyPr wrap="square" rtlCol="0"/>
          <a:lstStyle>
            <a:lvl1pPr algn="l" indent="0" marL="0">
              <a:buNone/>
              <a:defRPr lang="en-US" sz="2000" dirty="0">
                <a:solidFill>
                  <a:srgbClr val="FFC400"/>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Registre Collecte · prototype de démonstration · données fictives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tu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73152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4.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852160" cy="1463040"/>
          </a:xfrm>
          <a:prstGeom prst="rect">
            <a:avLst/>
          </a:prstGeom>
          <a:noFill/>
          <a:ln/>
        </p:spPr>
        <p:txBody>
          <a:bodyPr wrap="square" lIns="0" tIns="0" rIns="0" bIns="0" rtlCol="0" anchor="b"/>
          <a:lstStyle/>
          <a:p>
            <a:pPr algn="l" indent="0" marL="0">
              <a:buNone/>
            </a:pPr>
            <a:r>
              <a:rPr lang="en-US" sz="4400" b="1" dirty="0">
                <a:solidFill>
                  <a:schemeClr val="bg1"/>
                </a:solidFill>
              </a:rPr>
              <a:t>Registre Collecte</a:t>
            </a:r>
            <a:endParaRPr lang="en-US" sz="4400" dirty="0"/>
          </a:p>
        </p:txBody>
      </p:sp>
      <p:sp>
        <p:nvSpPr>
          <p:cNvPr id="3" name="Text 0"/>
          <p:cNvSpPr/>
          <p:nvPr>
            <p:ph idx="101" type="body" hasCustomPrompt="1"/>
          </p:nvPr>
        </p:nvSpPr>
        <p:spPr>
          <a:xfrm>
            <a:off x="640080" y="3429000"/>
            <a:ext cx="5852160" cy="1188720"/>
          </a:xfrm>
          <a:prstGeom prst="rect">
            <a:avLst/>
          </a:prstGeom>
          <a:noFill/>
          <a:ln/>
        </p:spPr>
        <p:txBody>
          <a:bodyPr wrap="square" lIns="0" tIns="0" rIns="0" bIns="0" rtlCol="0" anchor="t"/>
          <a:lstStyle/>
          <a:p>
            <a:pPr algn="l" indent="0" marL="0">
              <a:buNone/>
            </a:pPr>
            <a:r>
              <a:rPr lang="en-US" sz="2000" dirty="0">
                <a:solidFill>
                  <a:srgbClr val="FFC400"/>
                </a:solidFill>
              </a:rPr>
              <a:t>Modules de collecte de données — prototype fonctionnel de démonstration</a:t>
            </a:r>
            <a:endParaRPr lang="en-US" sz="2000" dirty="0"/>
          </a:p>
        </p:txBody>
      </p:sp>
      <p:sp>
        <p:nvSpPr>
          <p:cNvPr id="4" name="mention"/>
          <p:cNvSpPr txBox="1"/>
          <p:nvPr/>
        </p:nvSpPr>
        <p:spPr>
          <a:xfrm>
            <a:off x="640080" y="5852160"/>
            <a:ext cx="5852160" cy="365760"/>
          </a:xfrm>
          <a:prstGeom prst="rect">
            <a:avLst/>
          </a:prstGeom>
          <a:noFill/>
          <a:ln/>
        </p:spPr>
        <p:txBody>
          <a:bodyPr wrap="square" lIns="0" tIns="0" rIns="0" bIns="0" rtlCol="0" anchor="ctr"/>
          <a:lstStyle/>
          <a:p>
            <a:pPr indent="0" marL="0">
              <a:buNone/>
            </a:pPr>
            <a:r>
              <a:rPr lang="en-US" sz="1400" dirty="0">
                <a:solidFill>
                  <a:srgbClr val="C8EAD6"/>
                </a:solidFill>
              </a:rPr>
              <a:t>Prototype générique · données fictives · octobre 2026</a:t>
            </a:r>
            <a:endParaRPr lang="en-US" sz="1400" dirty="0"/>
          </a:p>
        </p:txBody>
      </p:sp>
      <p:sp>
        <p:nvSpPr>
          <p:cNvPr id="5" name="Capture du tableau de bord cadre"/>
          <p:cNvSpPr/>
          <p:nvPr/>
        </p:nvSpPr>
        <p:spPr>
          <a:xfrm>
            <a:off x="6629400" y="1737360"/>
            <a:ext cx="5120640" cy="3200400"/>
          </a:xfrm>
          <a:prstGeom prst="rect">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pic>
        <p:nvPicPr>
          <p:cNvPr id="6" name="Capture du tableau de bord" descr="Capture du tableau de bord">    </p:cNvPr>
          <p:cNvPicPr>
            <a:picLocks noChangeAspect="1"/>
          </p:cNvPicPr>
          <p:nvPr/>
        </p:nvPicPr>
        <p:blipFill>
          <a:blip r:embed="rId1"/>
          <a:stretch>
            <a:fillRect/>
          </a:stretch>
        </p:blipFill>
        <p:spPr>
          <a:xfrm>
            <a:off x="6629400" y="1737360"/>
            <a:ext cx="5120640"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Un outil complet pour collecter des données fiables</a:t>
            </a:r>
            <a:endParaRPr lang="en-US" sz="3200" dirty="0"/>
          </a:p>
        </p:txBody>
      </p:sp>
      <p:sp>
        <p:nvSpPr>
          <p:cNvPr id="3" name="Text 1"/>
          <p:cNvSpPr txBox="1"/>
          <p:nvPr/>
        </p:nvSpPr>
        <p:spPr>
          <a:xfrm>
            <a:off x="548640" y="1371600"/>
            <a:ext cx="4206240" cy="1463040"/>
          </a:xfrm>
          <a:prstGeom prst="rect">
            <a:avLst/>
          </a:prstGeom>
          <a:noFill/>
          <a:ln/>
        </p:spPr>
        <p:txBody>
          <a:bodyPr wrap="square" lIns="0" tIns="0" rIns="0" bIns="0" rtlCol="0" anchor="t"/>
          <a:lstStyle/>
          <a:p>
            <a:pPr indent="0" marL="0">
              <a:buNone/>
            </a:pPr>
            <a:r>
              <a:rPr lang="en-US" sz="1800" dirty="0">
                <a:solidFill>
                  <a:schemeClr val="tx1"/>
                </a:solidFill>
              </a:rPr>
              <a:t>Une application web pour concevoir des formulaires, collecter sur le terrain, contrôler automatiquement la qualité et suivre les résultats en temps réel.</a:t>
            </a:r>
            <a:endParaRPr lang="en-US" sz="1800" dirty="0"/>
          </a:p>
        </p:txBody>
      </p:sp>
      <p:sp>
        <p:nvSpPr>
          <p:cNvPr id="4" name="encadré avertissement"/>
          <p:cNvSpPr/>
          <p:nvPr/>
        </p:nvSpPr>
        <p:spPr>
          <a:xfrm>
            <a:off x="548640" y="3291840"/>
            <a:ext cx="4206240" cy="1874520"/>
          </a:xfrm>
          <a:prstGeom prst="roundRect">
            <a:avLst>
              <a:gd name="adj" fmla="val 5854"/>
            </a:avLst>
          </a:prstGeom>
          <a:solidFill>
            <a:schemeClr val="bg2"/>
          </a:solidFill>
          <a:ln/>
        </p:spPr>
      </p:sp>
      <p:sp>
        <p:nvSpPr>
          <p:cNvPr id="5" name="Text 3"/>
          <p:cNvSpPr txBox="1"/>
          <p:nvPr/>
        </p:nvSpPr>
        <p:spPr>
          <a:xfrm>
            <a:off x="777240" y="3474720"/>
            <a:ext cx="3749040" cy="1554480"/>
          </a:xfrm>
          <a:prstGeom prst="rect">
            <a:avLst/>
          </a:prstGeom>
          <a:noFill/>
          <a:ln/>
        </p:spPr>
        <p:txBody>
          <a:bodyPr wrap="square" lIns="0" tIns="0" rIns="0" bIns="0" rtlCol="0" anchor="t"/>
          <a:lstStyle/>
          <a:p>
            <a:pPr indent="0" marL="0">
              <a:buNone/>
            </a:pPr>
            <a:r>
              <a:rPr lang="en-US" sz="1500" b="1" dirty="0">
                <a:solidFill>
                  <a:schemeClr val="tx2"/>
                </a:solidFill>
              </a:rPr>
              <a:t>Ce qu'il faut savoir</a:t>
            </a:r>
            <a:endParaRPr lang="en-US" sz="1500" dirty="0"/>
          </a:p>
          <a:p>
            <a:pPr indent="0" marL="0">
              <a:buNone/>
            </a:pPr>
            <a:r>
              <a:rPr lang="en-US" sz="1500" dirty="0">
                <a:solidFill>
                  <a:schemeClr val="tx1"/>
                </a:solidFill>
              </a:rPr>
              <a:t>Prototype générique, construit sans les termes de référence officiels. Il n'est présenté ni comme conforme au marché, ni comme certifié. Toutes les données sont fictives.</a:t>
            </a:r>
            <a:endParaRPr lang="en-US" sz="1500" dirty="0"/>
          </a:p>
        </p:txBody>
      </p:sp>
      <p:sp>
        <p:nvSpPr>
          <p:cNvPr id="6" name="module Tableau de bord"/>
          <p:cNvSpPr/>
          <p:nvPr/>
        </p:nvSpPr>
        <p:spPr>
          <a:xfrm>
            <a:off x="5257800" y="1371600"/>
            <a:ext cx="3017520" cy="1280160"/>
          </a:xfrm>
          <a:prstGeom prst="roundRect">
            <a:avLst>
              <a:gd name="adj" fmla="val 7143"/>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7" name="module Tableau de bord cercle"/>
          <p:cNvSpPr/>
          <p:nvPr/>
        </p:nvSpPr>
        <p:spPr>
          <a:xfrm>
            <a:off x="5458968" y="1673352"/>
            <a:ext cx="676656" cy="676656"/>
          </a:xfrm>
          <a:prstGeom prst="ellipse">
            <a:avLst/>
          </a:prstGeom>
          <a:solidFill>
            <a:srgbClr val="006F3C"/>
          </a:solidFill>
          <a:ln/>
        </p:spPr>
      </p:sp>
      <p:pic>
        <p:nvPicPr>
          <p:cNvPr id="8" name="module Tableau de bord icône" descr="module Tableau de bord">    </p:cNvPr>
          <p:cNvPicPr>
            <a:picLocks noChangeAspect="1"/>
          </p:cNvPicPr>
          <p:nvPr/>
        </p:nvPicPr>
        <p:blipFill>
          <a:blip r:embed="rId1"/>
          <a:stretch>
            <a:fillRect/>
          </a:stretch>
        </p:blipFill>
        <p:spPr>
          <a:xfrm>
            <a:off x="5628132" y="1842516"/>
            <a:ext cx="338328" cy="338328"/>
          </a:xfrm>
          <a:prstGeom prst="rect">
            <a:avLst/>
          </a:prstGeom>
        </p:spPr>
      </p:pic>
      <p:sp>
        <p:nvSpPr>
          <p:cNvPr id="9" name="Text 6"/>
          <p:cNvSpPr txBox="1"/>
          <p:nvPr/>
        </p:nvSpPr>
        <p:spPr>
          <a:xfrm>
            <a:off x="6281928" y="1645920"/>
            <a:ext cx="1874520" cy="777240"/>
          </a:xfrm>
          <a:prstGeom prst="rect">
            <a:avLst/>
          </a:prstGeom>
          <a:noFill/>
          <a:ln/>
        </p:spPr>
        <p:txBody>
          <a:bodyPr wrap="square" lIns="0" tIns="0" rIns="0" bIns="0" rtlCol="0" anchor="t"/>
          <a:lstStyle/>
          <a:p>
            <a:pPr indent="0" marL="0">
              <a:buNone/>
            </a:pPr>
            <a:r>
              <a:rPr lang="en-US" sz="1500" b="1" dirty="0">
                <a:solidFill>
                  <a:schemeClr val="tx1"/>
                </a:solidFill>
              </a:rPr>
              <a:t>Tableau de bord</a:t>
            </a:r>
            <a:endParaRPr lang="en-US" sz="1500" dirty="0"/>
          </a:p>
          <a:p>
            <a:pPr indent="0" marL="0">
              <a:buNone/>
            </a:pPr>
            <a:r>
              <a:rPr lang="en-US" sz="1300" dirty="0">
                <a:solidFill>
                  <a:schemeClr val="accent6"/>
                </a:solidFill>
              </a:rPr>
              <a:t>Indicateurs calculés en direct</a:t>
            </a:r>
            <a:endParaRPr lang="en-US" sz="1500" dirty="0"/>
          </a:p>
        </p:txBody>
      </p:sp>
      <p:sp>
        <p:nvSpPr>
          <p:cNvPr id="10" name="module Formulaires"/>
          <p:cNvSpPr/>
          <p:nvPr/>
        </p:nvSpPr>
        <p:spPr>
          <a:xfrm>
            <a:off x="8458200" y="1371600"/>
            <a:ext cx="3017520" cy="1280160"/>
          </a:xfrm>
          <a:prstGeom prst="roundRect">
            <a:avLst>
              <a:gd name="adj" fmla="val 7143"/>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11" name="module Formulaires cercle"/>
          <p:cNvSpPr/>
          <p:nvPr/>
        </p:nvSpPr>
        <p:spPr>
          <a:xfrm>
            <a:off x="8659368" y="1673352"/>
            <a:ext cx="676656" cy="676656"/>
          </a:xfrm>
          <a:prstGeom prst="ellipse">
            <a:avLst/>
          </a:prstGeom>
          <a:solidFill>
            <a:srgbClr val="006F3C"/>
          </a:solidFill>
          <a:ln/>
        </p:spPr>
      </p:sp>
      <p:pic>
        <p:nvPicPr>
          <p:cNvPr id="12" name="module Formulaires icône" descr="module Formulaires">    </p:cNvPr>
          <p:cNvPicPr>
            <a:picLocks noChangeAspect="1"/>
          </p:cNvPicPr>
          <p:nvPr/>
        </p:nvPicPr>
        <p:blipFill>
          <a:blip r:embed="rId2"/>
          <a:stretch>
            <a:fillRect/>
          </a:stretch>
        </p:blipFill>
        <p:spPr>
          <a:xfrm>
            <a:off x="8828532" y="1842516"/>
            <a:ext cx="338328" cy="338328"/>
          </a:xfrm>
          <a:prstGeom prst="rect">
            <a:avLst/>
          </a:prstGeom>
        </p:spPr>
      </p:pic>
      <p:sp>
        <p:nvSpPr>
          <p:cNvPr id="13" name="Text 9"/>
          <p:cNvSpPr txBox="1"/>
          <p:nvPr/>
        </p:nvSpPr>
        <p:spPr>
          <a:xfrm>
            <a:off x="9482328" y="1645920"/>
            <a:ext cx="1874520" cy="777240"/>
          </a:xfrm>
          <a:prstGeom prst="rect">
            <a:avLst/>
          </a:prstGeom>
          <a:noFill/>
          <a:ln/>
        </p:spPr>
        <p:txBody>
          <a:bodyPr wrap="square" lIns="0" tIns="0" rIns="0" bIns="0" rtlCol="0" anchor="t"/>
          <a:lstStyle/>
          <a:p>
            <a:pPr indent="0" marL="0">
              <a:buNone/>
            </a:pPr>
            <a:r>
              <a:rPr lang="en-US" sz="1500" b="1" dirty="0">
                <a:solidFill>
                  <a:schemeClr val="tx1"/>
                </a:solidFill>
              </a:rPr>
              <a:t>Formulaires</a:t>
            </a:r>
            <a:endParaRPr lang="en-US" sz="1500" dirty="0"/>
          </a:p>
          <a:p>
            <a:pPr indent="0" marL="0">
              <a:buNone/>
            </a:pPr>
            <a:r>
              <a:rPr lang="en-US" sz="1300" dirty="0">
                <a:solidFill>
                  <a:schemeClr val="accent6"/>
                </a:solidFill>
              </a:rPr>
              <a:t>Création sans code, versions</a:t>
            </a:r>
            <a:endParaRPr lang="en-US" sz="1500" dirty="0"/>
          </a:p>
        </p:txBody>
      </p:sp>
      <p:sp>
        <p:nvSpPr>
          <p:cNvPr id="14" name="module Collecte"/>
          <p:cNvSpPr/>
          <p:nvPr/>
        </p:nvSpPr>
        <p:spPr>
          <a:xfrm>
            <a:off x="5257800" y="2834640"/>
            <a:ext cx="3017520" cy="1280160"/>
          </a:xfrm>
          <a:prstGeom prst="roundRect">
            <a:avLst>
              <a:gd name="adj" fmla="val 7143"/>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15" name="module Collecte cercle"/>
          <p:cNvSpPr/>
          <p:nvPr/>
        </p:nvSpPr>
        <p:spPr>
          <a:xfrm>
            <a:off x="5458968" y="3136392"/>
            <a:ext cx="676656" cy="676656"/>
          </a:xfrm>
          <a:prstGeom prst="ellipse">
            <a:avLst/>
          </a:prstGeom>
          <a:solidFill>
            <a:srgbClr val="006F3C"/>
          </a:solidFill>
          <a:ln/>
        </p:spPr>
      </p:sp>
      <p:pic>
        <p:nvPicPr>
          <p:cNvPr id="16" name="module Collecte icône" descr="module Collecte">    </p:cNvPr>
          <p:cNvPicPr>
            <a:picLocks noChangeAspect="1"/>
          </p:cNvPicPr>
          <p:nvPr/>
        </p:nvPicPr>
        <p:blipFill>
          <a:blip r:embed="rId3"/>
          <a:stretch>
            <a:fillRect/>
          </a:stretch>
        </p:blipFill>
        <p:spPr>
          <a:xfrm>
            <a:off x="5628132" y="3305556"/>
            <a:ext cx="338328" cy="338328"/>
          </a:xfrm>
          <a:prstGeom prst="rect">
            <a:avLst/>
          </a:prstGeom>
        </p:spPr>
      </p:pic>
      <p:sp>
        <p:nvSpPr>
          <p:cNvPr id="17" name="Text 12"/>
          <p:cNvSpPr txBox="1"/>
          <p:nvPr/>
        </p:nvSpPr>
        <p:spPr>
          <a:xfrm>
            <a:off x="6281928" y="3108960"/>
            <a:ext cx="1874520" cy="777240"/>
          </a:xfrm>
          <a:prstGeom prst="rect">
            <a:avLst/>
          </a:prstGeom>
          <a:noFill/>
          <a:ln/>
        </p:spPr>
        <p:txBody>
          <a:bodyPr wrap="square" lIns="0" tIns="0" rIns="0" bIns="0" rtlCol="0" anchor="t"/>
          <a:lstStyle/>
          <a:p>
            <a:pPr indent="0" marL="0">
              <a:buNone/>
            </a:pPr>
            <a:r>
              <a:rPr lang="en-US" sz="1500" b="1" dirty="0">
                <a:solidFill>
                  <a:schemeClr val="tx1"/>
                </a:solidFill>
              </a:rPr>
              <a:t>Collecte</a:t>
            </a:r>
            <a:endParaRPr lang="en-US" sz="1500" dirty="0"/>
          </a:p>
          <a:p>
            <a:pPr indent="0" marL="0">
              <a:buNone/>
            </a:pPr>
            <a:r>
              <a:rPr lang="en-US" sz="1300" dirty="0">
                <a:solidFill>
                  <a:schemeClr val="accent6"/>
                </a:solidFill>
              </a:rPr>
              <a:t>Saisie, brouillon, correction</a:t>
            </a:r>
            <a:endParaRPr lang="en-US" sz="1500" dirty="0"/>
          </a:p>
        </p:txBody>
      </p:sp>
      <p:sp>
        <p:nvSpPr>
          <p:cNvPr id="18" name="module Qualité"/>
          <p:cNvSpPr/>
          <p:nvPr/>
        </p:nvSpPr>
        <p:spPr>
          <a:xfrm>
            <a:off x="8458200" y="2834640"/>
            <a:ext cx="3017520" cy="1280160"/>
          </a:xfrm>
          <a:prstGeom prst="roundRect">
            <a:avLst>
              <a:gd name="adj" fmla="val 7143"/>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19" name="module Qualité cercle"/>
          <p:cNvSpPr/>
          <p:nvPr/>
        </p:nvSpPr>
        <p:spPr>
          <a:xfrm>
            <a:off x="8659368" y="3136392"/>
            <a:ext cx="676656" cy="676656"/>
          </a:xfrm>
          <a:prstGeom prst="ellipse">
            <a:avLst/>
          </a:prstGeom>
          <a:solidFill>
            <a:srgbClr val="006F3C"/>
          </a:solidFill>
          <a:ln/>
        </p:spPr>
      </p:sp>
      <p:pic>
        <p:nvPicPr>
          <p:cNvPr id="20" name="module Qualité icône" descr="module Qualité">    </p:cNvPr>
          <p:cNvPicPr>
            <a:picLocks noChangeAspect="1"/>
          </p:cNvPicPr>
          <p:nvPr/>
        </p:nvPicPr>
        <p:blipFill>
          <a:blip r:embed="rId4"/>
          <a:stretch>
            <a:fillRect/>
          </a:stretch>
        </p:blipFill>
        <p:spPr>
          <a:xfrm>
            <a:off x="8828532" y="3305556"/>
            <a:ext cx="338328" cy="338328"/>
          </a:xfrm>
          <a:prstGeom prst="rect">
            <a:avLst/>
          </a:prstGeom>
        </p:spPr>
      </p:pic>
      <p:sp>
        <p:nvSpPr>
          <p:cNvPr id="21" name="Text 15"/>
          <p:cNvSpPr txBox="1"/>
          <p:nvPr/>
        </p:nvSpPr>
        <p:spPr>
          <a:xfrm>
            <a:off x="9482328" y="3108960"/>
            <a:ext cx="1874520" cy="777240"/>
          </a:xfrm>
          <a:prstGeom prst="rect">
            <a:avLst/>
          </a:prstGeom>
          <a:noFill/>
          <a:ln/>
        </p:spPr>
        <p:txBody>
          <a:bodyPr wrap="square" lIns="0" tIns="0" rIns="0" bIns="0" rtlCol="0" anchor="t"/>
          <a:lstStyle/>
          <a:p>
            <a:pPr indent="0" marL="0">
              <a:buNone/>
            </a:pPr>
            <a:r>
              <a:rPr lang="en-US" sz="1500" b="1" dirty="0">
                <a:solidFill>
                  <a:schemeClr val="tx1"/>
                </a:solidFill>
              </a:rPr>
              <a:t>Qualité</a:t>
            </a:r>
            <a:endParaRPr lang="en-US" sz="1500" dirty="0"/>
          </a:p>
          <a:p>
            <a:pPr indent="0" marL="0">
              <a:buNone/>
            </a:pPr>
            <a:r>
              <a:rPr lang="en-US" sz="1300" dirty="0">
                <a:solidFill>
                  <a:schemeClr val="accent6"/>
                </a:solidFill>
              </a:rPr>
              <a:t>5 contrôles automatiques</a:t>
            </a:r>
            <a:endParaRPr lang="en-US" sz="1500" dirty="0"/>
          </a:p>
        </p:txBody>
      </p:sp>
      <p:sp>
        <p:nvSpPr>
          <p:cNvPr id="22" name="module Utilisateurs"/>
          <p:cNvSpPr/>
          <p:nvPr/>
        </p:nvSpPr>
        <p:spPr>
          <a:xfrm>
            <a:off x="5257800" y="4297680"/>
            <a:ext cx="3017520" cy="1280160"/>
          </a:xfrm>
          <a:prstGeom prst="roundRect">
            <a:avLst>
              <a:gd name="adj" fmla="val 7143"/>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23" name="module Utilisateurs cercle"/>
          <p:cNvSpPr/>
          <p:nvPr/>
        </p:nvSpPr>
        <p:spPr>
          <a:xfrm>
            <a:off x="5458968" y="4599432"/>
            <a:ext cx="676656" cy="676656"/>
          </a:xfrm>
          <a:prstGeom prst="ellipse">
            <a:avLst/>
          </a:prstGeom>
          <a:solidFill>
            <a:srgbClr val="006F3C"/>
          </a:solidFill>
          <a:ln/>
        </p:spPr>
      </p:sp>
      <p:pic>
        <p:nvPicPr>
          <p:cNvPr id="24" name="module Utilisateurs icône" descr="module Utilisateurs">    </p:cNvPr>
          <p:cNvPicPr>
            <a:picLocks noChangeAspect="1"/>
          </p:cNvPicPr>
          <p:nvPr/>
        </p:nvPicPr>
        <p:blipFill>
          <a:blip r:embed="rId5"/>
          <a:stretch>
            <a:fillRect/>
          </a:stretch>
        </p:blipFill>
        <p:spPr>
          <a:xfrm>
            <a:off x="5628132" y="4768596"/>
            <a:ext cx="338328" cy="338328"/>
          </a:xfrm>
          <a:prstGeom prst="rect">
            <a:avLst/>
          </a:prstGeom>
        </p:spPr>
      </p:pic>
      <p:sp>
        <p:nvSpPr>
          <p:cNvPr id="25" name="Text 18"/>
          <p:cNvSpPr txBox="1"/>
          <p:nvPr/>
        </p:nvSpPr>
        <p:spPr>
          <a:xfrm>
            <a:off x="6281928" y="4572000"/>
            <a:ext cx="1874520" cy="777240"/>
          </a:xfrm>
          <a:prstGeom prst="rect">
            <a:avLst/>
          </a:prstGeom>
          <a:noFill/>
          <a:ln/>
        </p:spPr>
        <p:txBody>
          <a:bodyPr wrap="square" lIns="0" tIns="0" rIns="0" bIns="0" rtlCol="0" anchor="t"/>
          <a:lstStyle/>
          <a:p>
            <a:pPr indent="0" marL="0">
              <a:buNone/>
            </a:pPr>
            <a:r>
              <a:rPr lang="en-US" sz="1500" b="1" dirty="0">
                <a:solidFill>
                  <a:schemeClr val="tx1"/>
                </a:solidFill>
              </a:rPr>
              <a:t>Utilisateurs</a:t>
            </a:r>
            <a:endParaRPr lang="en-US" sz="1500" dirty="0"/>
          </a:p>
          <a:p>
            <a:pPr indent="0" marL="0">
              <a:buNone/>
            </a:pPr>
            <a:r>
              <a:rPr lang="en-US" sz="1300" dirty="0">
                <a:solidFill>
                  <a:schemeClr val="accent6"/>
                </a:solidFill>
              </a:rPr>
              <a:t>3 rôles, droits vérifiés</a:t>
            </a:r>
            <a:endParaRPr lang="en-US" sz="1500" dirty="0"/>
          </a:p>
        </p:txBody>
      </p:sp>
      <p:sp>
        <p:nvSpPr>
          <p:cNvPr id="26" name="module Consultation et export"/>
          <p:cNvSpPr/>
          <p:nvPr/>
        </p:nvSpPr>
        <p:spPr>
          <a:xfrm>
            <a:off x="8458200" y="4297680"/>
            <a:ext cx="3017520" cy="1280160"/>
          </a:xfrm>
          <a:prstGeom prst="roundRect">
            <a:avLst>
              <a:gd name="adj" fmla="val 7143"/>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27" name="module Consultation et export cercle"/>
          <p:cNvSpPr/>
          <p:nvPr/>
        </p:nvSpPr>
        <p:spPr>
          <a:xfrm>
            <a:off x="8659368" y="4599432"/>
            <a:ext cx="676656" cy="676656"/>
          </a:xfrm>
          <a:prstGeom prst="ellipse">
            <a:avLst/>
          </a:prstGeom>
          <a:solidFill>
            <a:srgbClr val="006F3C"/>
          </a:solidFill>
          <a:ln/>
        </p:spPr>
      </p:sp>
      <p:pic>
        <p:nvPicPr>
          <p:cNvPr id="28" name="module Consultation et export icône" descr="module Consultation et export">    </p:cNvPr>
          <p:cNvPicPr>
            <a:picLocks noChangeAspect="1"/>
          </p:cNvPicPr>
          <p:nvPr/>
        </p:nvPicPr>
        <p:blipFill>
          <a:blip r:embed="rId6"/>
          <a:stretch>
            <a:fillRect/>
          </a:stretch>
        </p:blipFill>
        <p:spPr>
          <a:xfrm>
            <a:off x="8828532" y="4768596"/>
            <a:ext cx="338328" cy="338328"/>
          </a:xfrm>
          <a:prstGeom prst="rect">
            <a:avLst/>
          </a:prstGeom>
        </p:spPr>
      </p:pic>
      <p:sp>
        <p:nvSpPr>
          <p:cNvPr id="29" name="Text 21"/>
          <p:cNvSpPr txBox="1"/>
          <p:nvPr/>
        </p:nvSpPr>
        <p:spPr>
          <a:xfrm>
            <a:off x="9482328" y="4572000"/>
            <a:ext cx="1874520" cy="777240"/>
          </a:xfrm>
          <a:prstGeom prst="rect">
            <a:avLst/>
          </a:prstGeom>
          <a:noFill/>
          <a:ln/>
        </p:spPr>
        <p:txBody>
          <a:bodyPr wrap="square" lIns="0" tIns="0" rIns="0" bIns="0" rtlCol="0" anchor="t"/>
          <a:lstStyle/>
          <a:p>
            <a:pPr indent="0" marL="0">
              <a:buNone/>
            </a:pPr>
            <a:r>
              <a:rPr lang="en-US" sz="1500" b="1" dirty="0">
                <a:solidFill>
                  <a:schemeClr val="tx1"/>
                </a:solidFill>
              </a:rPr>
              <a:t>Consultation et export</a:t>
            </a:r>
            <a:endParaRPr lang="en-US" sz="1500" dirty="0"/>
          </a:p>
          <a:p>
            <a:pPr indent="0" marL="0">
              <a:buNone/>
            </a:pPr>
            <a:r>
              <a:rPr lang="en-US" sz="1300" dirty="0">
                <a:solidFill>
                  <a:schemeClr val="accent6"/>
                </a:solidFill>
              </a:rPr>
              <a:t>Filtres, rapports, CSV</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Le parcours de la donnée en quatre étapes</a:t>
            </a:r>
            <a:endParaRPr lang="en-US" sz="3200" dirty="0"/>
          </a:p>
        </p:txBody>
      </p:sp>
      <p:sp>
        <p:nvSpPr>
          <p:cNvPr id="3" name="étape 1"/>
          <p:cNvSpPr/>
          <p:nvPr/>
        </p:nvSpPr>
        <p:spPr>
          <a:xfrm>
            <a:off x="548640" y="1600200"/>
            <a:ext cx="2514600" cy="3749040"/>
          </a:xfrm>
          <a:prstGeom prst="roundRect">
            <a:avLst>
              <a:gd name="adj" fmla="val 4364"/>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4" name="étape 1 cercle"/>
          <p:cNvSpPr/>
          <p:nvPr/>
        </p:nvSpPr>
        <p:spPr>
          <a:xfrm>
            <a:off x="1335024" y="1920240"/>
            <a:ext cx="914400" cy="914400"/>
          </a:xfrm>
          <a:prstGeom prst="ellipse">
            <a:avLst/>
          </a:prstGeom>
          <a:solidFill>
            <a:srgbClr val="006F3C"/>
          </a:solidFill>
          <a:ln/>
        </p:spPr>
      </p:sp>
      <p:pic>
        <p:nvPicPr>
          <p:cNvPr id="5" name="étape 1 icône" descr="étape 1">    </p:cNvPr>
          <p:cNvPicPr>
            <a:picLocks noChangeAspect="1"/>
          </p:cNvPicPr>
          <p:nvPr/>
        </p:nvPicPr>
        <p:blipFill>
          <a:blip r:embed="rId1"/>
          <a:stretch>
            <a:fillRect/>
          </a:stretch>
        </p:blipFill>
        <p:spPr>
          <a:xfrm>
            <a:off x="1563624" y="2148840"/>
            <a:ext cx="457200" cy="457200"/>
          </a:xfrm>
          <a:prstGeom prst="rect">
            <a:avLst/>
          </a:prstGeom>
        </p:spPr>
      </p:pic>
      <p:sp>
        <p:nvSpPr>
          <p:cNvPr id="6" name="Text 3"/>
          <p:cNvSpPr txBox="1"/>
          <p:nvPr/>
        </p:nvSpPr>
        <p:spPr>
          <a:xfrm>
            <a:off x="731520" y="3017520"/>
            <a:ext cx="2148840" cy="457200"/>
          </a:xfrm>
          <a:prstGeom prst="rect">
            <a:avLst/>
          </a:prstGeom>
          <a:noFill/>
          <a:ln/>
        </p:spPr>
        <p:txBody>
          <a:bodyPr wrap="square" lIns="0" tIns="0" rIns="0" bIns="0" rtlCol="0" anchor="t"/>
          <a:lstStyle/>
          <a:p>
            <a:pPr algn="ctr" indent="0" marL="0">
              <a:buNone/>
            </a:pPr>
            <a:r>
              <a:rPr lang="en-US" sz="1900" b="1" dirty="0">
                <a:solidFill>
                  <a:schemeClr val="tx2"/>
                </a:solidFill>
              </a:rPr>
              <a:t>1. Concevoir</a:t>
            </a:r>
            <a:endParaRPr lang="en-US" sz="1900" dirty="0"/>
          </a:p>
        </p:txBody>
      </p:sp>
      <p:sp>
        <p:nvSpPr>
          <p:cNvPr id="7" name="Text 4"/>
          <p:cNvSpPr txBox="1"/>
          <p:nvPr/>
        </p:nvSpPr>
        <p:spPr>
          <a:xfrm>
            <a:off x="731520" y="3474720"/>
            <a:ext cx="2148840" cy="365760"/>
          </a:xfrm>
          <a:prstGeom prst="rect">
            <a:avLst/>
          </a:prstGeom>
          <a:noFill/>
          <a:ln/>
        </p:spPr>
        <p:txBody>
          <a:bodyPr wrap="square" lIns="0" tIns="0" rIns="0" bIns="0" rtlCol="0" anchor="t"/>
          <a:lstStyle/>
          <a:p>
            <a:pPr algn="ctr" indent="0" marL="0">
              <a:buNone/>
            </a:pPr>
            <a:r>
              <a:rPr lang="en-US" sz="1300" i="1" dirty="0">
                <a:solidFill>
                  <a:schemeClr val="accent1"/>
                </a:solidFill>
              </a:rPr>
              <a:t>Administrateur</a:t>
            </a:r>
            <a:endParaRPr lang="en-US" sz="1300" dirty="0"/>
          </a:p>
        </p:txBody>
      </p:sp>
      <p:sp>
        <p:nvSpPr>
          <p:cNvPr id="8" name="Text 5"/>
          <p:cNvSpPr txBox="1"/>
          <p:nvPr/>
        </p:nvSpPr>
        <p:spPr>
          <a:xfrm>
            <a:off x="777240" y="3977640"/>
            <a:ext cx="2057400" cy="1234440"/>
          </a:xfrm>
          <a:prstGeom prst="rect">
            <a:avLst/>
          </a:prstGeom>
          <a:noFill/>
          <a:ln/>
        </p:spPr>
        <p:txBody>
          <a:bodyPr wrap="square" lIns="0" tIns="0" rIns="0" bIns="0" rtlCol="0" anchor="t"/>
          <a:lstStyle/>
          <a:p>
            <a:pPr indent="0" marL="0">
              <a:buNone/>
            </a:pPr>
            <a:r>
              <a:rPr lang="en-US" sz="1500" dirty="0">
                <a:solidFill>
                  <a:schemeClr val="tx1"/>
                </a:solidFill>
              </a:rPr>
              <a:t>Crée le formulaire, ses règles et ses critères de doublon, puis le publie.</a:t>
            </a:r>
            <a:endParaRPr lang="en-US" sz="1500" dirty="0"/>
          </a:p>
        </p:txBody>
      </p:sp>
      <p:pic>
        <p:nvPicPr>
          <p:cNvPr id="9" name="flèche 1" descr="étape suivante">    </p:cNvPr>
          <p:cNvPicPr>
            <a:picLocks noChangeAspect="1"/>
          </p:cNvPicPr>
          <p:nvPr/>
        </p:nvPicPr>
        <p:blipFill>
          <a:blip r:embed="rId2"/>
          <a:stretch>
            <a:fillRect/>
          </a:stretch>
        </p:blipFill>
        <p:spPr>
          <a:xfrm>
            <a:off x="3108960" y="3337560"/>
            <a:ext cx="274320" cy="274320"/>
          </a:xfrm>
          <a:prstGeom prst="rect">
            <a:avLst/>
          </a:prstGeom>
        </p:spPr>
      </p:pic>
      <p:sp>
        <p:nvSpPr>
          <p:cNvPr id="10" name="étape 2"/>
          <p:cNvSpPr/>
          <p:nvPr/>
        </p:nvSpPr>
        <p:spPr>
          <a:xfrm>
            <a:off x="3383280" y="1600200"/>
            <a:ext cx="2514600" cy="3749040"/>
          </a:xfrm>
          <a:prstGeom prst="roundRect">
            <a:avLst>
              <a:gd name="adj" fmla="val 4364"/>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11" name="étape 2 cercle"/>
          <p:cNvSpPr/>
          <p:nvPr/>
        </p:nvSpPr>
        <p:spPr>
          <a:xfrm>
            <a:off x="4169664" y="1920240"/>
            <a:ext cx="914400" cy="914400"/>
          </a:xfrm>
          <a:prstGeom prst="ellipse">
            <a:avLst/>
          </a:prstGeom>
          <a:solidFill>
            <a:srgbClr val="006F3C"/>
          </a:solidFill>
          <a:ln/>
        </p:spPr>
      </p:sp>
      <p:pic>
        <p:nvPicPr>
          <p:cNvPr id="12" name="étape 2 icône" descr="étape 2">    </p:cNvPr>
          <p:cNvPicPr>
            <a:picLocks noChangeAspect="1"/>
          </p:cNvPicPr>
          <p:nvPr/>
        </p:nvPicPr>
        <p:blipFill>
          <a:blip r:embed="rId3"/>
          <a:stretch>
            <a:fillRect/>
          </a:stretch>
        </p:blipFill>
        <p:spPr>
          <a:xfrm>
            <a:off x="4398264" y="2148840"/>
            <a:ext cx="457200" cy="457200"/>
          </a:xfrm>
          <a:prstGeom prst="rect">
            <a:avLst/>
          </a:prstGeom>
        </p:spPr>
      </p:pic>
      <p:sp>
        <p:nvSpPr>
          <p:cNvPr id="13" name="Text 8"/>
          <p:cNvSpPr txBox="1"/>
          <p:nvPr/>
        </p:nvSpPr>
        <p:spPr>
          <a:xfrm>
            <a:off x="3566160" y="3017520"/>
            <a:ext cx="2148840" cy="457200"/>
          </a:xfrm>
          <a:prstGeom prst="rect">
            <a:avLst/>
          </a:prstGeom>
          <a:noFill/>
          <a:ln/>
        </p:spPr>
        <p:txBody>
          <a:bodyPr wrap="square" lIns="0" tIns="0" rIns="0" bIns="0" rtlCol="0" anchor="t"/>
          <a:lstStyle/>
          <a:p>
            <a:pPr algn="ctr" indent="0" marL="0">
              <a:buNone/>
            </a:pPr>
            <a:r>
              <a:rPr lang="en-US" sz="1900" b="1" dirty="0">
                <a:solidFill>
                  <a:schemeClr val="tx2"/>
                </a:solidFill>
              </a:rPr>
              <a:t>2. Collecter</a:t>
            </a:r>
            <a:endParaRPr lang="en-US" sz="1900" dirty="0"/>
          </a:p>
        </p:txBody>
      </p:sp>
      <p:sp>
        <p:nvSpPr>
          <p:cNvPr id="14" name="Text 9"/>
          <p:cNvSpPr txBox="1"/>
          <p:nvPr/>
        </p:nvSpPr>
        <p:spPr>
          <a:xfrm>
            <a:off x="3566160" y="3474720"/>
            <a:ext cx="2148840" cy="365760"/>
          </a:xfrm>
          <a:prstGeom prst="rect">
            <a:avLst/>
          </a:prstGeom>
          <a:noFill/>
          <a:ln/>
        </p:spPr>
        <p:txBody>
          <a:bodyPr wrap="square" lIns="0" tIns="0" rIns="0" bIns="0" rtlCol="0" anchor="t"/>
          <a:lstStyle/>
          <a:p>
            <a:pPr algn="ctr" indent="0" marL="0">
              <a:buNone/>
            </a:pPr>
            <a:r>
              <a:rPr lang="en-US" sz="1300" i="1" dirty="0">
                <a:solidFill>
                  <a:schemeClr val="accent1"/>
                </a:solidFill>
              </a:rPr>
              <a:t>Agent de collecte</a:t>
            </a:r>
            <a:endParaRPr lang="en-US" sz="1300" dirty="0"/>
          </a:p>
        </p:txBody>
      </p:sp>
      <p:sp>
        <p:nvSpPr>
          <p:cNvPr id="15" name="Text 10"/>
          <p:cNvSpPr txBox="1"/>
          <p:nvPr/>
        </p:nvSpPr>
        <p:spPr>
          <a:xfrm>
            <a:off x="3611880" y="3977640"/>
            <a:ext cx="2057400" cy="1234440"/>
          </a:xfrm>
          <a:prstGeom prst="rect">
            <a:avLst/>
          </a:prstGeom>
          <a:noFill/>
          <a:ln/>
        </p:spPr>
        <p:txBody>
          <a:bodyPr wrap="square" lIns="0" tIns="0" rIns="0" bIns="0" rtlCol="0" anchor="t"/>
          <a:lstStyle/>
          <a:p>
            <a:pPr indent="0" marL="0">
              <a:buNone/>
            </a:pPr>
            <a:r>
              <a:rPr lang="en-US" sz="1500" dirty="0">
                <a:solidFill>
                  <a:schemeClr val="tx1"/>
                </a:solidFill>
              </a:rPr>
              <a:t>Saisit sur le terrain, enregistre un brouillon, soumet la réponse.</a:t>
            </a:r>
            <a:endParaRPr lang="en-US" sz="1500" dirty="0"/>
          </a:p>
        </p:txBody>
      </p:sp>
      <p:pic>
        <p:nvPicPr>
          <p:cNvPr id="16" name="flèche 2" descr="étape suivante">    </p:cNvPr>
          <p:cNvPicPr>
            <a:picLocks noChangeAspect="1"/>
          </p:cNvPicPr>
          <p:nvPr/>
        </p:nvPicPr>
        <p:blipFill>
          <a:blip r:embed="rId4"/>
          <a:stretch>
            <a:fillRect/>
          </a:stretch>
        </p:blipFill>
        <p:spPr>
          <a:xfrm>
            <a:off x="5943600" y="3337560"/>
            <a:ext cx="274320" cy="274320"/>
          </a:xfrm>
          <a:prstGeom prst="rect">
            <a:avLst/>
          </a:prstGeom>
        </p:spPr>
      </p:pic>
      <p:sp>
        <p:nvSpPr>
          <p:cNvPr id="17" name="étape 3"/>
          <p:cNvSpPr/>
          <p:nvPr/>
        </p:nvSpPr>
        <p:spPr>
          <a:xfrm>
            <a:off x="6217920" y="1600200"/>
            <a:ext cx="2514600" cy="3749040"/>
          </a:xfrm>
          <a:prstGeom prst="roundRect">
            <a:avLst>
              <a:gd name="adj" fmla="val 4364"/>
            </a:avLst>
          </a:prstGeom>
          <a:solidFill>
            <a:schemeClr val="bg2"/>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18" name="étape 3 cercle"/>
          <p:cNvSpPr/>
          <p:nvPr/>
        </p:nvSpPr>
        <p:spPr>
          <a:xfrm>
            <a:off x="7004304" y="1920240"/>
            <a:ext cx="914400" cy="914400"/>
          </a:xfrm>
          <a:prstGeom prst="ellipse">
            <a:avLst/>
          </a:prstGeom>
          <a:solidFill>
            <a:srgbClr val="D99A00"/>
          </a:solidFill>
          <a:ln/>
        </p:spPr>
      </p:sp>
      <p:pic>
        <p:nvPicPr>
          <p:cNvPr id="19" name="étape 3 icône" descr="étape 3">    </p:cNvPr>
          <p:cNvPicPr>
            <a:picLocks noChangeAspect="1"/>
          </p:cNvPicPr>
          <p:nvPr/>
        </p:nvPicPr>
        <p:blipFill>
          <a:blip r:embed="rId5"/>
          <a:stretch>
            <a:fillRect/>
          </a:stretch>
        </p:blipFill>
        <p:spPr>
          <a:xfrm>
            <a:off x="7232904" y="2148840"/>
            <a:ext cx="457200" cy="457200"/>
          </a:xfrm>
          <a:prstGeom prst="rect">
            <a:avLst/>
          </a:prstGeom>
        </p:spPr>
      </p:pic>
      <p:sp>
        <p:nvSpPr>
          <p:cNvPr id="20" name="Text 13"/>
          <p:cNvSpPr txBox="1"/>
          <p:nvPr/>
        </p:nvSpPr>
        <p:spPr>
          <a:xfrm>
            <a:off x="6400800" y="3017520"/>
            <a:ext cx="2148840" cy="457200"/>
          </a:xfrm>
          <a:prstGeom prst="rect">
            <a:avLst/>
          </a:prstGeom>
          <a:noFill/>
          <a:ln/>
        </p:spPr>
        <p:txBody>
          <a:bodyPr wrap="square" lIns="0" tIns="0" rIns="0" bIns="0" rtlCol="0" anchor="t"/>
          <a:lstStyle/>
          <a:p>
            <a:pPr algn="ctr" indent="0" marL="0">
              <a:buNone/>
            </a:pPr>
            <a:r>
              <a:rPr lang="en-US" sz="1900" b="1" dirty="0">
                <a:solidFill>
                  <a:schemeClr val="tx2"/>
                </a:solidFill>
              </a:rPr>
              <a:t>3. Contrôler</a:t>
            </a:r>
            <a:endParaRPr lang="en-US" sz="1900" dirty="0"/>
          </a:p>
        </p:txBody>
      </p:sp>
      <p:sp>
        <p:nvSpPr>
          <p:cNvPr id="21" name="Text 14"/>
          <p:cNvSpPr txBox="1"/>
          <p:nvPr/>
        </p:nvSpPr>
        <p:spPr>
          <a:xfrm>
            <a:off x="6400800" y="3474720"/>
            <a:ext cx="2148840" cy="365760"/>
          </a:xfrm>
          <a:prstGeom prst="rect">
            <a:avLst/>
          </a:prstGeom>
          <a:noFill/>
          <a:ln/>
        </p:spPr>
        <p:txBody>
          <a:bodyPr wrap="square" lIns="0" tIns="0" rIns="0" bIns="0" rtlCol="0" anchor="t"/>
          <a:lstStyle/>
          <a:p>
            <a:pPr algn="ctr" indent="0" marL="0">
              <a:buNone/>
            </a:pPr>
            <a:r>
              <a:rPr lang="en-US" sz="1300" i="1" dirty="0">
                <a:solidFill>
                  <a:schemeClr val="accent1"/>
                </a:solidFill>
              </a:rPr>
              <a:t>Automatique</a:t>
            </a:r>
            <a:endParaRPr lang="en-US" sz="1300" dirty="0"/>
          </a:p>
        </p:txBody>
      </p:sp>
      <p:sp>
        <p:nvSpPr>
          <p:cNvPr id="22" name="Text 15"/>
          <p:cNvSpPr txBox="1"/>
          <p:nvPr/>
        </p:nvSpPr>
        <p:spPr>
          <a:xfrm>
            <a:off x="6446520" y="3977640"/>
            <a:ext cx="2057400" cy="1234440"/>
          </a:xfrm>
          <a:prstGeom prst="rect">
            <a:avLst/>
          </a:prstGeom>
          <a:noFill/>
          <a:ln/>
        </p:spPr>
        <p:txBody>
          <a:bodyPr wrap="square" lIns="0" tIns="0" rIns="0" bIns="0" rtlCol="0" anchor="t"/>
          <a:lstStyle/>
          <a:p>
            <a:pPr indent="0" marL="0">
              <a:buNone/>
            </a:pPr>
            <a:r>
              <a:rPr lang="en-US" sz="1500" dirty="0">
                <a:solidFill>
                  <a:schemeClr val="tx1"/>
                </a:solidFill>
              </a:rPr>
              <a:t>Le serveur vérifie chaque réponse et signale les anomalies.</a:t>
            </a:r>
            <a:endParaRPr lang="en-US" sz="1500" dirty="0"/>
          </a:p>
        </p:txBody>
      </p:sp>
      <p:pic>
        <p:nvPicPr>
          <p:cNvPr id="23" name="flèche 3" descr="étape suivante">    </p:cNvPr>
          <p:cNvPicPr>
            <a:picLocks noChangeAspect="1"/>
          </p:cNvPicPr>
          <p:nvPr/>
        </p:nvPicPr>
        <p:blipFill>
          <a:blip r:embed="rId6"/>
          <a:stretch>
            <a:fillRect/>
          </a:stretch>
        </p:blipFill>
        <p:spPr>
          <a:xfrm>
            <a:off x="8778240" y="3337560"/>
            <a:ext cx="274320" cy="274320"/>
          </a:xfrm>
          <a:prstGeom prst="rect">
            <a:avLst/>
          </a:prstGeom>
        </p:spPr>
      </p:pic>
      <p:sp>
        <p:nvSpPr>
          <p:cNvPr id="24" name="étape 4"/>
          <p:cNvSpPr/>
          <p:nvPr/>
        </p:nvSpPr>
        <p:spPr>
          <a:xfrm>
            <a:off x="9052560" y="1600200"/>
            <a:ext cx="2514600" cy="3749040"/>
          </a:xfrm>
          <a:prstGeom prst="roundRect">
            <a:avLst>
              <a:gd name="adj" fmla="val 4364"/>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25" name="étape 4 cercle"/>
          <p:cNvSpPr/>
          <p:nvPr/>
        </p:nvSpPr>
        <p:spPr>
          <a:xfrm>
            <a:off x="9838944" y="1920240"/>
            <a:ext cx="914400" cy="914400"/>
          </a:xfrm>
          <a:prstGeom prst="ellipse">
            <a:avLst/>
          </a:prstGeom>
          <a:solidFill>
            <a:srgbClr val="006F3C"/>
          </a:solidFill>
          <a:ln/>
        </p:spPr>
      </p:sp>
      <p:pic>
        <p:nvPicPr>
          <p:cNvPr id="26" name="étape 4 icône" descr="étape 4">    </p:cNvPr>
          <p:cNvPicPr>
            <a:picLocks noChangeAspect="1"/>
          </p:cNvPicPr>
          <p:nvPr/>
        </p:nvPicPr>
        <p:blipFill>
          <a:blip r:embed="rId7"/>
          <a:stretch>
            <a:fillRect/>
          </a:stretch>
        </p:blipFill>
        <p:spPr>
          <a:xfrm>
            <a:off x="10067544" y="2148840"/>
            <a:ext cx="457200" cy="457200"/>
          </a:xfrm>
          <a:prstGeom prst="rect">
            <a:avLst/>
          </a:prstGeom>
        </p:spPr>
      </p:pic>
      <p:sp>
        <p:nvSpPr>
          <p:cNvPr id="27" name="Text 18"/>
          <p:cNvSpPr txBox="1"/>
          <p:nvPr/>
        </p:nvSpPr>
        <p:spPr>
          <a:xfrm>
            <a:off x="9235440" y="3017520"/>
            <a:ext cx="2148840" cy="457200"/>
          </a:xfrm>
          <a:prstGeom prst="rect">
            <a:avLst/>
          </a:prstGeom>
          <a:noFill/>
          <a:ln/>
        </p:spPr>
        <p:txBody>
          <a:bodyPr wrap="square" lIns="0" tIns="0" rIns="0" bIns="0" rtlCol="0" anchor="t"/>
          <a:lstStyle/>
          <a:p>
            <a:pPr algn="ctr" indent="0" marL="0">
              <a:buNone/>
            </a:pPr>
            <a:r>
              <a:rPr lang="en-US" sz="1900" b="1" dirty="0">
                <a:solidFill>
                  <a:schemeClr val="tx2"/>
                </a:solidFill>
              </a:rPr>
              <a:t>4. Valider et analyser</a:t>
            </a:r>
            <a:endParaRPr lang="en-US" sz="1900" dirty="0"/>
          </a:p>
        </p:txBody>
      </p:sp>
      <p:sp>
        <p:nvSpPr>
          <p:cNvPr id="28" name="Text 19"/>
          <p:cNvSpPr txBox="1"/>
          <p:nvPr/>
        </p:nvSpPr>
        <p:spPr>
          <a:xfrm>
            <a:off x="9235440" y="3474720"/>
            <a:ext cx="2148840" cy="365760"/>
          </a:xfrm>
          <a:prstGeom prst="rect">
            <a:avLst/>
          </a:prstGeom>
          <a:noFill/>
          <a:ln/>
        </p:spPr>
        <p:txBody>
          <a:bodyPr wrap="square" lIns="0" tIns="0" rIns="0" bIns="0" rtlCol="0" anchor="t"/>
          <a:lstStyle/>
          <a:p>
            <a:pPr algn="ctr" indent="0" marL="0">
              <a:buNone/>
            </a:pPr>
            <a:r>
              <a:rPr lang="en-US" sz="1300" i="1" dirty="0">
                <a:solidFill>
                  <a:schemeClr val="accent1"/>
                </a:solidFill>
              </a:rPr>
              <a:t>Superviseur</a:t>
            </a:r>
            <a:endParaRPr lang="en-US" sz="1300" dirty="0"/>
          </a:p>
        </p:txBody>
      </p:sp>
      <p:sp>
        <p:nvSpPr>
          <p:cNvPr id="29" name="Text 20"/>
          <p:cNvSpPr txBox="1"/>
          <p:nvPr/>
        </p:nvSpPr>
        <p:spPr>
          <a:xfrm>
            <a:off x="9281160" y="3977640"/>
            <a:ext cx="2057400" cy="1234440"/>
          </a:xfrm>
          <a:prstGeom prst="rect">
            <a:avLst/>
          </a:prstGeom>
          <a:noFill/>
          <a:ln/>
        </p:spPr>
        <p:txBody>
          <a:bodyPr wrap="square" lIns="0" tIns="0" rIns="0" bIns="0" rtlCol="0" anchor="t"/>
          <a:lstStyle/>
          <a:p>
            <a:pPr indent="0" marL="0">
              <a:buNone/>
            </a:pPr>
            <a:r>
              <a:rPr lang="en-US" sz="1500" dirty="0">
                <a:solidFill>
                  <a:schemeClr val="tx1"/>
                </a:solidFill>
              </a:rPr>
              <a:t>Valide, rejette ou renvoie ; suit les indicateurs et exporte.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Trois rôles, des droits vérifiés côté serveur</a:t>
            </a:r>
            <a:endParaRPr lang="en-US" sz="3200" dirty="0"/>
          </a:p>
        </p:txBody>
      </p:sp>
      <p:sp>
        <p:nvSpPr>
          <p:cNvPr id="3" name="rôle Administrateur"/>
          <p:cNvSpPr/>
          <p:nvPr/>
        </p:nvSpPr>
        <p:spPr>
          <a:xfrm>
            <a:off x="548640" y="1417320"/>
            <a:ext cx="3474720" cy="3429000"/>
          </a:xfrm>
          <a:prstGeom prst="roundRect">
            <a:avLst>
              <a:gd name="adj" fmla="val 3200"/>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4" name="rôle Administrateur cercle"/>
          <p:cNvSpPr/>
          <p:nvPr/>
        </p:nvSpPr>
        <p:spPr>
          <a:xfrm>
            <a:off x="822960" y="1691640"/>
            <a:ext cx="777240" cy="777240"/>
          </a:xfrm>
          <a:prstGeom prst="ellipse">
            <a:avLst/>
          </a:prstGeom>
          <a:solidFill>
            <a:srgbClr val="006F3C"/>
          </a:solidFill>
          <a:ln/>
        </p:spPr>
      </p:sp>
      <p:pic>
        <p:nvPicPr>
          <p:cNvPr id="5" name="rôle Administrateur icône" descr="rôle Administrateur">    </p:cNvPr>
          <p:cNvPicPr>
            <a:picLocks noChangeAspect="1"/>
          </p:cNvPicPr>
          <p:nvPr/>
        </p:nvPicPr>
        <p:blipFill>
          <a:blip r:embed="rId1"/>
          <a:stretch>
            <a:fillRect/>
          </a:stretch>
        </p:blipFill>
        <p:spPr>
          <a:xfrm>
            <a:off x="1017270" y="1885950"/>
            <a:ext cx="388620" cy="388620"/>
          </a:xfrm>
          <a:prstGeom prst="rect">
            <a:avLst/>
          </a:prstGeom>
        </p:spPr>
      </p:pic>
      <p:sp>
        <p:nvSpPr>
          <p:cNvPr id="6" name="Text 3"/>
          <p:cNvSpPr txBox="1"/>
          <p:nvPr/>
        </p:nvSpPr>
        <p:spPr>
          <a:xfrm>
            <a:off x="1737360" y="1783080"/>
            <a:ext cx="2148840" cy="594360"/>
          </a:xfrm>
          <a:prstGeom prst="rect">
            <a:avLst/>
          </a:prstGeom>
          <a:noFill/>
          <a:ln/>
        </p:spPr>
        <p:txBody>
          <a:bodyPr wrap="square" lIns="0" tIns="0" rIns="0" bIns="0" rtlCol="0" anchor="ctr"/>
          <a:lstStyle/>
          <a:p>
            <a:pPr indent="0" marL="0">
              <a:buNone/>
            </a:pPr>
            <a:r>
              <a:rPr lang="en-US" sz="2000" b="1" dirty="0">
                <a:solidFill>
                  <a:schemeClr val="tx2"/>
                </a:solidFill>
              </a:rPr>
              <a:t>Administrateur</a:t>
            </a:r>
            <a:endParaRPr lang="en-US" sz="2000" dirty="0"/>
          </a:p>
        </p:txBody>
      </p:sp>
      <p:sp>
        <p:nvSpPr>
          <p:cNvPr id="7" name="Text 4"/>
          <p:cNvSpPr txBox="1"/>
          <p:nvPr/>
        </p:nvSpPr>
        <p:spPr>
          <a:xfrm>
            <a:off x="822960" y="2743200"/>
            <a:ext cx="2971800" cy="19202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Gère formulaires et utilisateurs</a:t>
            </a:r>
            <a:endParaRPr lang="en-US" sz="1500" dirty="0"/>
          </a:p>
          <a:p>
            <a:pPr marL="228600" indent="-228600">
              <a:spcAft>
                <a:spcPts val="800"/>
              </a:spcAft>
              <a:buSzPct val="100000"/>
              <a:buChar char="•"/>
            </a:pPr>
            <a:r>
              <a:rPr lang="en-US" sz="1500" dirty="0">
                <a:solidFill>
                  <a:schemeClr val="tx1"/>
                </a:solidFill>
              </a:rPr>
              <a:t>Accède à toutes les données</a:t>
            </a:r>
            <a:endParaRPr lang="en-US" sz="1500" dirty="0"/>
          </a:p>
          <a:p>
            <a:pPr marL="228600" indent="-228600">
              <a:spcAft>
                <a:spcPts val="800"/>
              </a:spcAft>
              <a:buSzPct val="100000"/>
              <a:buChar char="•"/>
            </a:pPr>
            <a:r>
              <a:rPr lang="en-US" sz="1500" dirty="0">
                <a:solidFill>
                  <a:schemeClr val="tx1"/>
                </a:solidFill>
              </a:rPr>
              <a:t>Consulte le journal d'audit</a:t>
            </a:r>
            <a:endParaRPr lang="en-US" sz="1500" dirty="0"/>
          </a:p>
        </p:txBody>
      </p:sp>
      <p:sp>
        <p:nvSpPr>
          <p:cNvPr id="8" name="rôle Superviseur"/>
          <p:cNvSpPr/>
          <p:nvPr/>
        </p:nvSpPr>
        <p:spPr>
          <a:xfrm>
            <a:off x="4297680" y="1417320"/>
            <a:ext cx="3474720" cy="3429000"/>
          </a:xfrm>
          <a:prstGeom prst="roundRect">
            <a:avLst>
              <a:gd name="adj" fmla="val 3200"/>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9" name="rôle Superviseur cercle"/>
          <p:cNvSpPr/>
          <p:nvPr/>
        </p:nvSpPr>
        <p:spPr>
          <a:xfrm>
            <a:off x="4572000" y="1691640"/>
            <a:ext cx="777240" cy="777240"/>
          </a:xfrm>
          <a:prstGeom prst="ellipse">
            <a:avLst/>
          </a:prstGeom>
          <a:solidFill>
            <a:srgbClr val="006F3C"/>
          </a:solidFill>
          <a:ln/>
        </p:spPr>
      </p:sp>
      <p:pic>
        <p:nvPicPr>
          <p:cNvPr id="10" name="rôle Superviseur icône" descr="rôle Superviseur">    </p:cNvPr>
          <p:cNvPicPr>
            <a:picLocks noChangeAspect="1"/>
          </p:cNvPicPr>
          <p:nvPr/>
        </p:nvPicPr>
        <p:blipFill>
          <a:blip r:embed="rId2"/>
          <a:stretch>
            <a:fillRect/>
          </a:stretch>
        </p:blipFill>
        <p:spPr>
          <a:xfrm>
            <a:off x="4766310" y="1885950"/>
            <a:ext cx="388620" cy="388620"/>
          </a:xfrm>
          <a:prstGeom prst="rect">
            <a:avLst/>
          </a:prstGeom>
        </p:spPr>
      </p:pic>
      <p:sp>
        <p:nvSpPr>
          <p:cNvPr id="11" name="Text 7"/>
          <p:cNvSpPr txBox="1"/>
          <p:nvPr/>
        </p:nvSpPr>
        <p:spPr>
          <a:xfrm>
            <a:off x="5486400" y="1783080"/>
            <a:ext cx="2148840" cy="594360"/>
          </a:xfrm>
          <a:prstGeom prst="rect">
            <a:avLst/>
          </a:prstGeom>
          <a:noFill/>
          <a:ln/>
        </p:spPr>
        <p:txBody>
          <a:bodyPr wrap="square" lIns="0" tIns="0" rIns="0" bIns="0" rtlCol="0" anchor="ctr"/>
          <a:lstStyle/>
          <a:p>
            <a:pPr indent="0" marL="0">
              <a:buNone/>
            </a:pPr>
            <a:r>
              <a:rPr lang="en-US" sz="2000" b="1" dirty="0">
                <a:solidFill>
                  <a:schemeClr val="tx2"/>
                </a:solidFill>
              </a:rPr>
              <a:t>Superviseur</a:t>
            </a:r>
            <a:endParaRPr lang="en-US" sz="2000" dirty="0"/>
          </a:p>
        </p:txBody>
      </p:sp>
      <p:sp>
        <p:nvSpPr>
          <p:cNvPr id="12" name="Text 8"/>
          <p:cNvSpPr txBox="1"/>
          <p:nvPr/>
        </p:nvSpPr>
        <p:spPr>
          <a:xfrm>
            <a:off x="4572000" y="2743200"/>
            <a:ext cx="2971800" cy="19202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Suit les formulaires qui lui sont affectés</a:t>
            </a:r>
            <a:endParaRPr lang="en-US" sz="1500" dirty="0"/>
          </a:p>
          <a:p>
            <a:pPr marL="228600" indent="-228600">
              <a:spcAft>
                <a:spcPts val="800"/>
              </a:spcAft>
              <a:buSzPct val="100000"/>
              <a:buChar char="•"/>
            </a:pPr>
            <a:r>
              <a:rPr lang="en-US" sz="1500" dirty="0">
                <a:solidFill>
                  <a:schemeClr val="tx1"/>
                </a:solidFill>
              </a:rPr>
              <a:t>Valide, rejette ou renvoie les réponses</a:t>
            </a:r>
            <a:endParaRPr lang="en-US" sz="1500" dirty="0"/>
          </a:p>
          <a:p>
            <a:pPr marL="228600" indent="-228600">
              <a:spcAft>
                <a:spcPts val="800"/>
              </a:spcAft>
              <a:buSzPct val="100000"/>
              <a:buChar char="•"/>
            </a:pPr>
            <a:r>
              <a:rPr lang="en-US" sz="1500" dirty="0">
                <a:solidFill>
                  <a:schemeClr val="tx1"/>
                </a:solidFill>
              </a:rPr>
              <a:t>Consulte rapports et exports</a:t>
            </a:r>
            <a:endParaRPr lang="en-US" sz="1500" dirty="0"/>
          </a:p>
        </p:txBody>
      </p:sp>
      <p:sp>
        <p:nvSpPr>
          <p:cNvPr id="13" name="rôle Agent de collecte"/>
          <p:cNvSpPr/>
          <p:nvPr/>
        </p:nvSpPr>
        <p:spPr>
          <a:xfrm>
            <a:off x="8046720" y="1417320"/>
            <a:ext cx="3474720" cy="3429000"/>
          </a:xfrm>
          <a:prstGeom prst="roundRect">
            <a:avLst>
              <a:gd name="adj" fmla="val 3200"/>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14" name="rôle Agent de collecte cercle"/>
          <p:cNvSpPr/>
          <p:nvPr/>
        </p:nvSpPr>
        <p:spPr>
          <a:xfrm>
            <a:off x="8321040" y="1691640"/>
            <a:ext cx="777240" cy="777240"/>
          </a:xfrm>
          <a:prstGeom prst="ellipse">
            <a:avLst/>
          </a:prstGeom>
          <a:solidFill>
            <a:srgbClr val="006F3C"/>
          </a:solidFill>
          <a:ln/>
        </p:spPr>
      </p:sp>
      <p:pic>
        <p:nvPicPr>
          <p:cNvPr id="15" name="rôle Agent de collecte icône" descr="rôle Agent de collecte">    </p:cNvPr>
          <p:cNvPicPr>
            <a:picLocks noChangeAspect="1"/>
          </p:cNvPicPr>
          <p:nvPr/>
        </p:nvPicPr>
        <p:blipFill>
          <a:blip r:embed="rId3"/>
          <a:stretch>
            <a:fillRect/>
          </a:stretch>
        </p:blipFill>
        <p:spPr>
          <a:xfrm>
            <a:off x="8515350" y="1885950"/>
            <a:ext cx="388620" cy="388620"/>
          </a:xfrm>
          <a:prstGeom prst="rect">
            <a:avLst/>
          </a:prstGeom>
        </p:spPr>
      </p:pic>
      <p:sp>
        <p:nvSpPr>
          <p:cNvPr id="16" name="Text 11"/>
          <p:cNvSpPr txBox="1"/>
          <p:nvPr/>
        </p:nvSpPr>
        <p:spPr>
          <a:xfrm>
            <a:off x="9235440" y="1783080"/>
            <a:ext cx="2148840" cy="594360"/>
          </a:xfrm>
          <a:prstGeom prst="rect">
            <a:avLst/>
          </a:prstGeom>
          <a:noFill/>
          <a:ln/>
        </p:spPr>
        <p:txBody>
          <a:bodyPr wrap="square" lIns="0" tIns="0" rIns="0" bIns="0" rtlCol="0" anchor="ctr"/>
          <a:lstStyle/>
          <a:p>
            <a:pPr indent="0" marL="0">
              <a:buNone/>
            </a:pPr>
            <a:r>
              <a:rPr lang="en-US" sz="2000" b="1" dirty="0">
                <a:solidFill>
                  <a:schemeClr val="tx2"/>
                </a:solidFill>
              </a:rPr>
              <a:t>Agent de collecte</a:t>
            </a:r>
            <a:endParaRPr lang="en-US" sz="2000" dirty="0"/>
          </a:p>
        </p:txBody>
      </p:sp>
      <p:sp>
        <p:nvSpPr>
          <p:cNvPr id="17" name="Text 12"/>
          <p:cNvSpPr txBox="1"/>
          <p:nvPr/>
        </p:nvSpPr>
        <p:spPr>
          <a:xfrm>
            <a:off x="8321040" y="2743200"/>
            <a:ext cx="2971800" cy="19202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Saisit sur les formulaires affectés</a:t>
            </a:r>
            <a:endParaRPr lang="en-US" sz="1500" dirty="0"/>
          </a:p>
          <a:p>
            <a:pPr marL="228600" indent="-228600">
              <a:spcAft>
                <a:spcPts val="800"/>
              </a:spcAft>
              <a:buSzPct val="100000"/>
              <a:buChar char="•"/>
            </a:pPr>
            <a:r>
              <a:rPr lang="en-US" sz="1500" dirty="0">
                <a:solidFill>
                  <a:schemeClr val="tx1"/>
                </a:solidFill>
              </a:rPr>
              <a:t>Reprend ses brouillons</a:t>
            </a:r>
            <a:endParaRPr lang="en-US" sz="1500" dirty="0"/>
          </a:p>
          <a:p>
            <a:pPr marL="228600" indent="-228600">
              <a:spcAft>
                <a:spcPts val="800"/>
              </a:spcAft>
              <a:buSzPct val="100000"/>
              <a:buChar char="•"/>
            </a:pPr>
            <a:r>
              <a:rPr lang="en-US" sz="1500" dirty="0">
                <a:solidFill>
                  <a:schemeClr val="tx1"/>
                </a:solidFill>
              </a:rPr>
              <a:t>Corrige selon le statut</a:t>
            </a:r>
            <a:endParaRPr lang="en-US" sz="1500" dirty="0"/>
          </a:p>
        </p:txBody>
      </p:sp>
      <p:sp>
        <p:nvSpPr>
          <p:cNvPr id="18" name="encadré sécurité"/>
          <p:cNvSpPr/>
          <p:nvPr/>
        </p:nvSpPr>
        <p:spPr>
          <a:xfrm>
            <a:off x="548640" y="5120640"/>
            <a:ext cx="11064240" cy="914400"/>
          </a:xfrm>
          <a:prstGeom prst="roundRect">
            <a:avLst>
              <a:gd name="adj" fmla="val 10000"/>
            </a:avLst>
          </a:prstGeom>
          <a:solidFill>
            <a:schemeClr val="bg2"/>
          </a:solidFill>
          <a:ln/>
        </p:spPr>
      </p:sp>
      <p:sp>
        <p:nvSpPr>
          <p:cNvPr id="19" name="sécurité cercle"/>
          <p:cNvSpPr/>
          <p:nvPr/>
        </p:nvSpPr>
        <p:spPr>
          <a:xfrm>
            <a:off x="777240" y="5285232"/>
            <a:ext cx="585216" cy="585216"/>
          </a:xfrm>
          <a:prstGeom prst="ellipse">
            <a:avLst/>
          </a:prstGeom>
          <a:solidFill>
            <a:srgbClr val="D99A00"/>
          </a:solidFill>
          <a:ln/>
        </p:spPr>
      </p:sp>
      <p:pic>
        <p:nvPicPr>
          <p:cNvPr id="20" name="sécurité icône" descr="sécurité">    </p:cNvPr>
          <p:cNvPicPr>
            <a:picLocks noChangeAspect="1"/>
          </p:cNvPicPr>
          <p:nvPr/>
        </p:nvPicPr>
        <p:blipFill>
          <a:blip r:embed="rId4"/>
          <a:stretch>
            <a:fillRect/>
          </a:stretch>
        </p:blipFill>
        <p:spPr>
          <a:xfrm>
            <a:off x="923544" y="5431536"/>
            <a:ext cx="292608" cy="292608"/>
          </a:xfrm>
          <a:prstGeom prst="rect">
            <a:avLst/>
          </a:prstGeom>
        </p:spPr>
      </p:pic>
      <p:sp>
        <p:nvSpPr>
          <p:cNvPr id="21" name="Text 15"/>
          <p:cNvSpPr txBox="1"/>
          <p:nvPr/>
        </p:nvSpPr>
        <p:spPr>
          <a:xfrm>
            <a:off x="1554480" y="5212080"/>
            <a:ext cx="9875520" cy="731520"/>
          </a:xfrm>
          <a:prstGeom prst="rect">
            <a:avLst/>
          </a:prstGeom>
          <a:noFill/>
          <a:ln/>
        </p:spPr>
        <p:txBody>
          <a:bodyPr wrap="square" lIns="0" tIns="0" rIns="0" bIns="0" rtlCol="0" anchor="ctr"/>
          <a:lstStyle/>
          <a:p>
            <a:pPr indent="0" marL="0">
              <a:buNone/>
            </a:pPr>
            <a:r>
              <a:rPr lang="en-US" sz="1500" dirty="0">
                <a:solidFill>
                  <a:schemeClr val="tx1"/>
                </a:solidFill>
              </a:rPr>
              <a:t>Masquer un bouton ne suffit pas : chaque page, action et export revérifie la session, la permission et le périmètre. Un agent qui tape l'adresse d'une page d'administration obtient « Accès refusé ».</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Un tableau de bord calculé en temps réel</a:t>
            </a:r>
            <a:endParaRPr lang="en-US" sz="3200" dirty="0"/>
          </a:p>
        </p:txBody>
      </p:sp>
      <p:sp>
        <p:nvSpPr>
          <p:cNvPr id="3" name="Tableau de bord cadre"/>
          <p:cNvSpPr/>
          <p:nvPr/>
        </p:nvSpPr>
        <p:spPr>
          <a:xfrm>
            <a:off x="548640" y="1371600"/>
            <a:ext cx="7223760" cy="4514850"/>
          </a:xfrm>
          <a:prstGeom prst="rect">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pic>
        <p:nvPicPr>
          <p:cNvPr id="4" name="Tableau de bord" descr="Tableau de bord">    </p:cNvPr>
          <p:cNvPicPr>
            <a:picLocks noChangeAspect="1"/>
          </p:cNvPicPr>
          <p:nvPr/>
        </p:nvPicPr>
        <p:blipFill>
          <a:blip r:embed="rId1"/>
          <a:stretch>
            <a:fillRect/>
          </a:stretch>
        </p:blipFill>
        <p:spPr>
          <a:xfrm>
            <a:off x="548640" y="1371600"/>
            <a:ext cx="7223760" cy="4514850"/>
          </a:xfrm>
          <a:prstGeom prst="rect">
            <a:avLst/>
          </a:prstGeom>
        </p:spPr>
      </p:pic>
      <p:sp>
        <p:nvSpPr>
          <p:cNvPr id="5" name="Text 2"/>
          <p:cNvSpPr txBox="1"/>
          <p:nvPr/>
        </p:nvSpPr>
        <p:spPr>
          <a:xfrm>
            <a:off x="8183880" y="1371600"/>
            <a:ext cx="347472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8</a:t>
            </a:r>
            <a:endParaRPr lang="en-US" sz="4000" dirty="0"/>
          </a:p>
        </p:txBody>
      </p:sp>
      <p:sp>
        <p:nvSpPr>
          <p:cNvPr id="6" name="Text 3"/>
          <p:cNvSpPr txBox="1"/>
          <p:nvPr/>
        </p:nvSpPr>
        <p:spPr>
          <a:xfrm>
            <a:off x="8183880" y="2057400"/>
            <a:ext cx="3474720" cy="777240"/>
          </a:xfrm>
          <a:prstGeom prst="rect">
            <a:avLst/>
          </a:prstGeom>
          <a:noFill/>
          <a:ln/>
        </p:spPr>
        <p:txBody>
          <a:bodyPr wrap="square" lIns="0" tIns="0" rIns="0" bIns="0" rtlCol="0" anchor="t"/>
          <a:lstStyle/>
          <a:p>
            <a:pPr indent="0" marL="0">
              <a:buNone/>
            </a:pPr>
            <a:r>
              <a:rPr lang="en-US" sz="1400" dirty="0">
                <a:solidFill>
                  <a:schemeClr val="tx1"/>
                </a:solidFill>
              </a:rPr>
              <a:t>indicateurs : formulaires, réponses, validées, en attente, complétude, anomalies…</a:t>
            </a:r>
            <a:endParaRPr lang="en-US" sz="1400" dirty="0"/>
          </a:p>
        </p:txBody>
      </p:sp>
      <p:sp>
        <p:nvSpPr>
          <p:cNvPr id="7" name="Text 4"/>
          <p:cNvSpPr txBox="1"/>
          <p:nvPr/>
        </p:nvSpPr>
        <p:spPr>
          <a:xfrm>
            <a:off x="8183880" y="2926080"/>
            <a:ext cx="347472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a:t>
            </a:r>
            <a:endParaRPr lang="en-US" sz="4000" dirty="0"/>
          </a:p>
        </p:txBody>
      </p:sp>
      <p:sp>
        <p:nvSpPr>
          <p:cNvPr id="8" name="Text 5"/>
          <p:cNvSpPr txBox="1"/>
          <p:nvPr/>
        </p:nvSpPr>
        <p:spPr>
          <a:xfrm>
            <a:off x="8183880" y="3611880"/>
            <a:ext cx="3474720" cy="777240"/>
          </a:xfrm>
          <a:prstGeom prst="rect">
            <a:avLst/>
          </a:prstGeom>
          <a:noFill/>
          <a:ln/>
        </p:spPr>
        <p:txBody>
          <a:bodyPr wrap="square" lIns="0" tIns="0" rIns="0" bIns="0" rtlCol="0" anchor="t"/>
          <a:lstStyle/>
          <a:p>
            <a:pPr indent="0" marL="0">
              <a:buNone/>
            </a:pPr>
            <a:r>
              <a:rPr lang="en-US" sz="1400" dirty="0">
                <a:solidFill>
                  <a:schemeClr val="tx1"/>
                </a:solidFill>
              </a:rPr>
              <a:t>graphiques : évolution sur 30 jours et répartition par formulaire</a:t>
            </a:r>
            <a:endParaRPr lang="en-US" sz="1400" dirty="0"/>
          </a:p>
        </p:txBody>
      </p:sp>
      <p:sp>
        <p:nvSpPr>
          <p:cNvPr id="9" name="Text 6"/>
          <p:cNvSpPr txBox="1"/>
          <p:nvPr/>
        </p:nvSpPr>
        <p:spPr>
          <a:xfrm>
            <a:off x="8183880" y="4480560"/>
            <a:ext cx="347472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100 %</a:t>
            </a:r>
            <a:endParaRPr lang="en-US" sz="4000" dirty="0"/>
          </a:p>
        </p:txBody>
      </p:sp>
      <p:sp>
        <p:nvSpPr>
          <p:cNvPr id="10" name="Text 7"/>
          <p:cNvSpPr txBox="1"/>
          <p:nvPr/>
        </p:nvSpPr>
        <p:spPr>
          <a:xfrm>
            <a:off x="8183880" y="5166360"/>
            <a:ext cx="3474720" cy="777240"/>
          </a:xfrm>
          <a:prstGeom prst="rect">
            <a:avLst/>
          </a:prstGeom>
          <a:noFill/>
          <a:ln/>
        </p:spPr>
        <p:txBody>
          <a:bodyPr wrap="square" lIns="0" tIns="0" rIns="0" bIns="0" rtlCol="0" anchor="t"/>
          <a:lstStyle/>
          <a:p>
            <a:pPr indent="0" marL="0">
              <a:buNone/>
            </a:pPr>
            <a:r>
              <a:rPr lang="en-US" sz="1400" dirty="0">
                <a:solidFill>
                  <a:schemeClr val="tx1"/>
                </a:solidFill>
              </a:rPr>
              <a:t>des chiffres lus en base PostgreSQL, selon le périmètre de l'utilisateur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Concevoir un formulaire sans écrire de code</a:t>
            </a:r>
            <a:endParaRPr lang="en-US" sz="3200" dirty="0"/>
          </a:p>
        </p:txBody>
      </p:sp>
      <p:sp>
        <p:nvSpPr>
          <p:cNvPr id="3" name="Text 1"/>
          <p:cNvSpPr txBox="1"/>
          <p:nvPr/>
        </p:nvSpPr>
        <p:spPr>
          <a:xfrm>
            <a:off x="548640" y="1463040"/>
            <a:ext cx="4297680" cy="44805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7 types de champs : texte, nombre, date, liste, choix unique, choix multiple, oui/non</a:t>
            </a:r>
            <a:endParaRPr lang="en-US" sz="1600" dirty="0"/>
          </a:p>
          <a:p>
            <a:pPr marL="228600" indent="-228600">
              <a:spcAft>
                <a:spcPts val="800"/>
              </a:spcAft>
              <a:buSzPct val="100000"/>
              <a:buChar char="•"/>
            </a:pPr>
            <a:r>
              <a:rPr lang="en-US" sz="1600" dirty="0">
                <a:solidFill>
                  <a:schemeClr val="tx1"/>
                </a:solidFill>
              </a:rPr>
              <a:t>Champs obligatoires, bornes, formats, motifs</a:t>
            </a:r>
            <a:endParaRPr lang="en-US" sz="1600" dirty="0"/>
          </a:p>
          <a:p>
            <a:pPr marL="228600" indent="-228600">
              <a:spcAft>
                <a:spcPts val="800"/>
              </a:spcAft>
              <a:buSzPct val="100000"/>
              <a:buChar char="•"/>
            </a:pPr>
            <a:r>
              <a:rPr lang="en-US" sz="1600" dirty="0">
                <a:solidFill>
                  <a:schemeClr val="tx1"/>
                </a:solidFill>
              </a:rPr>
              <a:t>Règles de cohérence entre champs (comparaison, obligation conditionnelle)</a:t>
            </a:r>
            <a:endParaRPr lang="en-US" sz="1600" dirty="0"/>
          </a:p>
          <a:p>
            <a:pPr marL="228600" indent="-228600">
              <a:spcAft>
                <a:spcPts val="800"/>
              </a:spcAft>
              <a:buSzPct val="100000"/>
              <a:buChar char="•"/>
            </a:pPr>
            <a:r>
              <a:rPr lang="en-US" sz="1600" dirty="0">
                <a:solidFill>
                  <a:schemeClr val="tx1"/>
                </a:solidFill>
              </a:rPr>
              <a:t>Critères de doublon configurables</a:t>
            </a:r>
            <a:endParaRPr lang="en-US" sz="1600" dirty="0"/>
          </a:p>
          <a:p>
            <a:pPr marL="228600" indent="-228600">
              <a:spcAft>
                <a:spcPts val="800"/>
              </a:spcAft>
              <a:buSzPct val="100000"/>
              <a:buChar char="•"/>
            </a:pPr>
            <a:r>
              <a:rPr lang="en-US" sz="1600" dirty="0">
                <a:solidFill>
                  <a:schemeClr val="tx1"/>
                </a:solidFill>
              </a:rPr>
              <a:t>Aperçu pour tester les règles avant publication</a:t>
            </a:r>
            <a:endParaRPr lang="en-US" sz="1600" dirty="0"/>
          </a:p>
          <a:p>
            <a:pPr marL="228600" indent="-228600">
              <a:spcAft>
                <a:spcPts val="800"/>
              </a:spcAft>
              <a:buSzPct val="100000"/>
              <a:buChar char="•"/>
            </a:pPr>
            <a:r>
              <a:rPr lang="en-US" sz="1600" dirty="0">
                <a:solidFill>
                  <a:schemeClr val="tx1"/>
                </a:solidFill>
              </a:rPr>
              <a:t>Version publiée figée : les réponses déjà saisies ne sont jamais altérées</a:t>
            </a:r>
            <a:endParaRPr lang="en-US" sz="1600" dirty="0"/>
          </a:p>
        </p:txBody>
      </p:sp>
      <p:sp>
        <p:nvSpPr>
          <p:cNvPr id="4" name="Constructeur de formulaires cadre"/>
          <p:cNvSpPr/>
          <p:nvPr/>
        </p:nvSpPr>
        <p:spPr>
          <a:xfrm>
            <a:off x="5120640" y="1371600"/>
            <a:ext cx="6492240" cy="4057650"/>
          </a:xfrm>
          <a:prstGeom prst="rect">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pic>
        <p:nvPicPr>
          <p:cNvPr id="5" name="Constructeur de formulaires" descr="Constructeur de formulaires">    </p:cNvPr>
          <p:cNvPicPr>
            <a:picLocks noChangeAspect="1"/>
          </p:cNvPicPr>
          <p:nvPr/>
        </p:nvPicPr>
        <p:blipFill>
          <a:blip r:embed="rId1"/>
          <a:stretch>
            <a:fillRect/>
          </a:stretch>
        </p:blipFill>
        <p:spPr>
          <a:xfrm>
            <a:off x="5120640" y="1371600"/>
            <a:ext cx="6492240" cy="405765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Des erreurs expliquées dès la saisie</a:t>
            </a:r>
            <a:endParaRPr lang="en-US" sz="3200" dirty="0"/>
          </a:p>
        </p:txBody>
      </p:sp>
      <p:sp>
        <p:nvSpPr>
          <p:cNvPr id="3" name="Saisie avec erreurs cadre"/>
          <p:cNvSpPr/>
          <p:nvPr/>
        </p:nvSpPr>
        <p:spPr>
          <a:xfrm>
            <a:off x="548640" y="1371600"/>
            <a:ext cx="6766560" cy="4229100"/>
          </a:xfrm>
          <a:prstGeom prst="rect">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pic>
        <p:nvPicPr>
          <p:cNvPr id="4" name="Saisie avec erreurs" descr="Saisie avec erreurs">    </p:cNvPr>
          <p:cNvPicPr>
            <a:picLocks noChangeAspect="1"/>
          </p:cNvPicPr>
          <p:nvPr/>
        </p:nvPicPr>
        <p:blipFill>
          <a:blip r:embed="rId1"/>
          <a:stretch>
            <a:fillRect/>
          </a:stretch>
        </p:blipFill>
        <p:spPr>
          <a:xfrm>
            <a:off x="548640" y="1371600"/>
            <a:ext cx="6766560" cy="4229100"/>
          </a:xfrm>
          <a:prstGeom prst="rect">
            <a:avLst/>
          </a:prstGeom>
        </p:spPr>
      </p:pic>
      <p:sp>
        <p:nvSpPr>
          <p:cNvPr id="5" name="Messages clairs cercle"/>
          <p:cNvSpPr/>
          <p:nvPr/>
        </p:nvSpPr>
        <p:spPr>
          <a:xfrm>
            <a:off x="7726680" y="1463040"/>
            <a:ext cx="640080" cy="640080"/>
          </a:xfrm>
          <a:prstGeom prst="ellipse">
            <a:avLst/>
          </a:prstGeom>
          <a:solidFill>
            <a:srgbClr val="006F3C"/>
          </a:solidFill>
          <a:ln/>
        </p:spPr>
      </p:sp>
      <p:pic>
        <p:nvPicPr>
          <p:cNvPr id="6" name="Messages clairs icône" descr="Messages clairs">    </p:cNvPr>
          <p:cNvPicPr>
            <a:picLocks noChangeAspect="1"/>
          </p:cNvPicPr>
          <p:nvPr/>
        </p:nvPicPr>
        <p:blipFill>
          <a:blip r:embed="rId2"/>
          <a:stretch>
            <a:fillRect/>
          </a:stretch>
        </p:blipFill>
        <p:spPr>
          <a:xfrm>
            <a:off x="7886700" y="1623060"/>
            <a:ext cx="320040" cy="320040"/>
          </a:xfrm>
          <a:prstGeom prst="rect">
            <a:avLst/>
          </a:prstGeom>
        </p:spPr>
      </p:pic>
      <p:sp>
        <p:nvSpPr>
          <p:cNvPr id="7" name="Text 3"/>
          <p:cNvSpPr txBox="1"/>
          <p:nvPr/>
        </p:nvSpPr>
        <p:spPr>
          <a:xfrm>
            <a:off x="8549640" y="1417320"/>
            <a:ext cx="3108960" cy="1280160"/>
          </a:xfrm>
          <a:prstGeom prst="rect">
            <a:avLst/>
          </a:prstGeom>
          <a:noFill/>
          <a:ln/>
        </p:spPr>
        <p:txBody>
          <a:bodyPr wrap="square" lIns="0" tIns="0" rIns="0" bIns="0" rtlCol="0" anchor="t"/>
          <a:lstStyle/>
          <a:p>
            <a:pPr indent="0" marL="0">
              <a:buNone/>
            </a:pPr>
            <a:r>
              <a:rPr lang="en-US" sz="1600" b="1" dirty="0">
                <a:solidFill>
                  <a:schemeClr val="tx2"/>
                </a:solidFill>
              </a:rPr>
              <a:t>Messages clairs</a:t>
            </a:r>
            <a:endParaRPr lang="en-US" sz="1600" dirty="0"/>
          </a:p>
          <a:p>
            <a:pPr indent="0" marL="0">
              <a:buNone/>
            </a:pPr>
            <a:r>
              <a:rPr lang="en-US" sz="1400" dirty="0">
                <a:solidFill>
                  <a:schemeClr val="tx1"/>
                </a:solidFill>
              </a:rPr>
              <a:t>Chaque erreur dit quoi corriger, sous le champ concerné.</a:t>
            </a:r>
            <a:endParaRPr lang="en-US" sz="1600" dirty="0"/>
          </a:p>
        </p:txBody>
      </p:sp>
      <p:sp>
        <p:nvSpPr>
          <p:cNvPr id="8" name="Vérifié par le serveur cercle"/>
          <p:cNvSpPr/>
          <p:nvPr/>
        </p:nvSpPr>
        <p:spPr>
          <a:xfrm>
            <a:off x="7726680" y="2926080"/>
            <a:ext cx="640080" cy="640080"/>
          </a:xfrm>
          <a:prstGeom prst="ellipse">
            <a:avLst/>
          </a:prstGeom>
          <a:solidFill>
            <a:srgbClr val="006F3C"/>
          </a:solidFill>
          <a:ln/>
        </p:spPr>
      </p:sp>
      <p:pic>
        <p:nvPicPr>
          <p:cNvPr id="9" name="Vérifié par le serveur icône" descr="Vérifié par le serveur">    </p:cNvPr>
          <p:cNvPicPr>
            <a:picLocks noChangeAspect="1"/>
          </p:cNvPicPr>
          <p:nvPr/>
        </p:nvPicPr>
        <p:blipFill>
          <a:blip r:embed="rId3"/>
          <a:stretch>
            <a:fillRect/>
          </a:stretch>
        </p:blipFill>
        <p:spPr>
          <a:xfrm>
            <a:off x="7886700" y="3086100"/>
            <a:ext cx="320040" cy="320040"/>
          </a:xfrm>
          <a:prstGeom prst="rect">
            <a:avLst/>
          </a:prstGeom>
        </p:spPr>
      </p:pic>
      <p:sp>
        <p:nvSpPr>
          <p:cNvPr id="10" name="Text 5"/>
          <p:cNvSpPr txBox="1"/>
          <p:nvPr/>
        </p:nvSpPr>
        <p:spPr>
          <a:xfrm>
            <a:off x="8549640" y="2880360"/>
            <a:ext cx="3108960" cy="1280160"/>
          </a:xfrm>
          <a:prstGeom prst="rect">
            <a:avLst/>
          </a:prstGeom>
          <a:noFill/>
          <a:ln/>
        </p:spPr>
        <p:txBody>
          <a:bodyPr wrap="square" lIns="0" tIns="0" rIns="0" bIns="0" rtlCol="0" anchor="t"/>
          <a:lstStyle/>
          <a:p>
            <a:pPr indent="0" marL="0">
              <a:buNone/>
            </a:pPr>
            <a:r>
              <a:rPr lang="en-US" sz="1600" b="1" dirty="0">
                <a:solidFill>
                  <a:schemeClr val="tx2"/>
                </a:solidFill>
              </a:rPr>
              <a:t>Vérifié par le serveur</a:t>
            </a:r>
            <a:endParaRPr lang="en-US" sz="1600" dirty="0"/>
          </a:p>
          <a:p>
            <a:pPr indent="0" marL="0">
              <a:buNone/>
            </a:pPr>
            <a:r>
              <a:rPr lang="en-US" sz="1400" dirty="0">
                <a:solidFill>
                  <a:schemeClr val="tx1"/>
                </a:solidFill>
              </a:rPr>
              <a:t>Le navigateur aide, le serveur décide : rien d'invalide n'est enregistré.</a:t>
            </a:r>
            <a:endParaRPr lang="en-US" sz="1600" dirty="0"/>
          </a:p>
        </p:txBody>
      </p:sp>
      <p:sp>
        <p:nvSpPr>
          <p:cNvPr id="11" name="Brouillon cercle"/>
          <p:cNvSpPr/>
          <p:nvPr/>
        </p:nvSpPr>
        <p:spPr>
          <a:xfrm>
            <a:off x="7726680" y="4389120"/>
            <a:ext cx="640080" cy="640080"/>
          </a:xfrm>
          <a:prstGeom prst="ellipse">
            <a:avLst/>
          </a:prstGeom>
          <a:solidFill>
            <a:srgbClr val="006F3C"/>
          </a:solidFill>
          <a:ln/>
        </p:spPr>
      </p:sp>
      <p:pic>
        <p:nvPicPr>
          <p:cNvPr id="12" name="Brouillon icône" descr="Brouillon">    </p:cNvPr>
          <p:cNvPicPr>
            <a:picLocks noChangeAspect="1"/>
          </p:cNvPicPr>
          <p:nvPr/>
        </p:nvPicPr>
        <p:blipFill>
          <a:blip r:embed="rId4"/>
          <a:stretch>
            <a:fillRect/>
          </a:stretch>
        </p:blipFill>
        <p:spPr>
          <a:xfrm>
            <a:off x="7886700" y="4549140"/>
            <a:ext cx="320040" cy="320040"/>
          </a:xfrm>
          <a:prstGeom prst="rect">
            <a:avLst/>
          </a:prstGeom>
        </p:spPr>
      </p:pic>
      <p:sp>
        <p:nvSpPr>
          <p:cNvPr id="13" name="Text 7"/>
          <p:cNvSpPr txBox="1"/>
          <p:nvPr/>
        </p:nvSpPr>
        <p:spPr>
          <a:xfrm>
            <a:off x="8549640" y="4343400"/>
            <a:ext cx="3108960" cy="1280160"/>
          </a:xfrm>
          <a:prstGeom prst="rect">
            <a:avLst/>
          </a:prstGeom>
          <a:noFill/>
          <a:ln/>
        </p:spPr>
        <p:txBody>
          <a:bodyPr wrap="square" lIns="0" tIns="0" rIns="0" bIns="0" rtlCol="0" anchor="t"/>
          <a:lstStyle/>
          <a:p>
            <a:pPr indent="0" marL="0">
              <a:buNone/>
            </a:pPr>
            <a:r>
              <a:rPr lang="en-US" sz="1600" b="1" dirty="0">
                <a:solidFill>
                  <a:schemeClr val="tx2"/>
                </a:solidFill>
              </a:rPr>
              <a:t>Brouillon</a:t>
            </a:r>
            <a:endParaRPr lang="en-US" sz="1600" dirty="0"/>
          </a:p>
          <a:p>
            <a:pPr indent="0" marL="0">
              <a:buNone/>
            </a:pPr>
            <a:r>
              <a:rPr lang="en-US" sz="1400" dirty="0">
                <a:solidFill>
                  <a:schemeClr val="tx1"/>
                </a:solidFill>
              </a:rPr>
              <a:t>La saisie peut être interrompue puis reprise.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Cinq contrôles qualité automatiques</a:t>
            </a:r>
            <a:endParaRPr lang="en-US" sz="3200" dirty="0"/>
          </a:p>
        </p:txBody>
      </p:sp>
      <p:sp>
        <p:nvSpPr>
          <p:cNvPr id="3" name="Champ obligatoire manquant cercle"/>
          <p:cNvSpPr/>
          <p:nvPr/>
        </p:nvSpPr>
        <p:spPr>
          <a:xfrm>
            <a:off x="548640" y="1417320"/>
            <a:ext cx="603504" cy="603504"/>
          </a:xfrm>
          <a:prstGeom prst="ellipse">
            <a:avLst/>
          </a:prstGeom>
          <a:solidFill>
            <a:srgbClr val="006F3C"/>
          </a:solidFill>
          <a:ln/>
        </p:spPr>
      </p:sp>
      <p:pic>
        <p:nvPicPr>
          <p:cNvPr id="4" name="Champ obligatoire manquant icône" descr="Champ obligatoire manquant">    </p:cNvPr>
          <p:cNvPicPr>
            <a:picLocks noChangeAspect="1"/>
          </p:cNvPicPr>
          <p:nvPr/>
        </p:nvPicPr>
        <p:blipFill>
          <a:blip r:embed="rId1"/>
          <a:stretch>
            <a:fillRect/>
          </a:stretch>
        </p:blipFill>
        <p:spPr>
          <a:xfrm>
            <a:off x="699516" y="1568196"/>
            <a:ext cx="301752" cy="301752"/>
          </a:xfrm>
          <a:prstGeom prst="rect">
            <a:avLst/>
          </a:prstGeom>
        </p:spPr>
      </p:pic>
      <p:sp>
        <p:nvSpPr>
          <p:cNvPr id="5" name="Text 2"/>
          <p:cNvSpPr txBox="1"/>
          <p:nvPr/>
        </p:nvSpPr>
        <p:spPr>
          <a:xfrm>
            <a:off x="1325880" y="1371600"/>
            <a:ext cx="3840480" cy="777240"/>
          </a:xfrm>
          <a:prstGeom prst="rect">
            <a:avLst/>
          </a:prstGeom>
          <a:noFill/>
          <a:ln/>
        </p:spPr>
        <p:txBody>
          <a:bodyPr wrap="square" lIns="0" tIns="0" rIns="0" bIns="0" rtlCol="0" anchor="t"/>
          <a:lstStyle/>
          <a:p>
            <a:pPr indent="0" marL="0">
              <a:buNone/>
            </a:pPr>
            <a:r>
              <a:rPr lang="en-US" sz="1600" b="1" dirty="0">
                <a:solidFill>
                  <a:schemeClr val="tx2"/>
                </a:solidFill>
              </a:rPr>
              <a:t>Champ obligatoire manquant</a:t>
            </a:r>
            <a:endParaRPr lang="en-US" sz="1600" dirty="0"/>
          </a:p>
          <a:p>
            <a:pPr indent="0" marL="0">
              <a:buNone/>
            </a:pPr>
            <a:r>
              <a:rPr lang="en-US" sz="1300" dirty="0">
                <a:solidFill>
                  <a:schemeClr val="accent6"/>
                </a:solidFill>
              </a:rPr>
              <a:t>Bloque la soumission</a:t>
            </a:r>
            <a:endParaRPr lang="en-US" sz="1600" dirty="0"/>
          </a:p>
        </p:txBody>
      </p:sp>
      <p:sp>
        <p:nvSpPr>
          <p:cNvPr id="6" name="Valeur hors plage cercle"/>
          <p:cNvSpPr/>
          <p:nvPr/>
        </p:nvSpPr>
        <p:spPr>
          <a:xfrm>
            <a:off x="548640" y="2331720"/>
            <a:ext cx="603504" cy="603504"/>
          </a:xfrm>
          <a:prstGeom prst="ellipse">
            <a:avLst/>
          </a:prstGeom>
          <a:solidFill>
            <a:srgbClr val="006F3C"/>
          </a:solidFill>
          <a:ln/>
        </p:spPr>
      </p:sp>
      <p:pic>
        <p:nvPicPr>
          <p:cNvPr id="7" name="Valeur hors plage icône" descr="Valeur hors plage">    </p:cNvPr>
          <p:cNvPicPr>
            <a:picLocks noChangeAspect="1"/>
          </p:cNvPicPr>
          <p:nvPr/>
        </p:nvPicPr>
        <p:blipFill>
          <a:blip r:embed="rId2"/>
          <a:stretch>
            <a:fillRect/>
          </a:stretch>
        </p:blipFill>
        <p:spPr>
          <a:xfrm>
            <a:off x="699516" y="2482596"/>
            <a:ext cx="301752" cy="301752"/>
          </a:xfrm>
          <a:prstGeom prst="rect">
            <a:avLst/>
          </a:prstGeom>
        </p:spPr>
      </p:pic>
      <p:sp>
        <p:nvSpPr>
          <p:cNvPr id="8" name="Text 4"/>
          <p:cNvSpPr txBox="1"/>
          <p:nvPr/>
        </p:nvSpPr>
        <p:spPr>
          <a:xfrm>
            <a:off x="1325880" y="2286000"/>
            <a:ext cx="3840480" cy="777240"/>
          </a:xfrm>
          <a:prstGeom prst="rect">
            <a:avLst/>
          </a:prstGeom>
          <a:noFill/>
          <a:ln/>
        </p:spPr>
        <p:txBody>
          <a:bodyPr wrap="square" lIns="0" tIns="0" rIns="0" bIns="0" rtlCol="0" anchor="t"/>
          <a:lstStyle/>
          <a:p>
            <a:pPr indent="0" marL="0">
              <a:buNone/>
            </a:pPr>
            <a:r>
              <a:rPr lang="en-US" sz="1600" b="1" dirty="0">
                <a:solidFill>
                  <a:schemeClr val="tx2"/>
                </a:solidFill>
              </a:rPr>
              <a:t>Valeur hors plage</a:t>
            </a:r>
            <a:endParaRPr lang="en-US" sz="1600" dirty="0"/>
          </a:p>
          <a:p>
            <a:pPr indent="0" marL="0">
              <a:buNone/>
            </a:pPr>
            <a:r>
              <a:rPr lang="en-US" sz="1300" dirty="0">
                <a:solidFill>
                  <a:schemeClr val="accent6"/>
                </a:solidFill>
              </a:rPr>
              <a:t>Bloquante, ou simple alerte si inhabituelle</a:t>
            </a:r>
            <a:endParaRPr lang="en-US" sz="1600" dirty="0"/>
          </a:p>
        </p:txBody>
      </p:sp>
      <p:sp>
        <p:nvSpPr>
          <p:cNvPr id="9" name="Format invalide cercle"/>
          <p:cNvSpPr/>
          <p:nvPr/>
        </p:nvSpPr>
        <p:spPr>
          <a:xfrm>
            <a:off x="548640" y="3246120"/>
            <a:ext cx="603504" cy="603504"/>
          </a:xfrm>
          <a:prstGeom prst="ellipse">
            <a:avLst/>
          </a:prstGeom>
          <a:solidFill>
            <a:srgbClr val="006F3C"/>
          </a:solidFill>
          <a:ln/>
        </p:spPr>
      </p:sp>
      <p:pic>
        <p:nvPicPr>
          <p:cNvPr id="10" name="Format invalide icône" descr="Format invalide">    </p:cNvPr>
          <p:cNvPicPr>
            <a:picLocks noChangeAspect="1"/>
          </p:cNvPicPr>
          <p:nvPr/>
        </p:nvPicPr>
        <p:blipFill>
          <a:blip r:embed="rId3"/>
          <a:stretch>
            <a:fillRect/>
          </a:stretch>
        </p:blipFill>
        <p:spPr>
          <a:xfrm>
            <a:off x="699516" y="3396996"/>
            <a:ext cx="301752" cy="301752"/>
          </a:xfrm>
          <a:prstGeom prst="rect">
            <a:avLst/>
          </a:prstGeom>
        </p:spPr>
      </p:pic>
      <p:sp>
        <p:nvSpPr>
          <p:cNvPr id="11" name="Text 6"/>
          <p:cNvSpPr txBox="1"/>
          <p:nvPr/>
        </p:nvSpPr>
        <p:spPr>
          <a:xfrm>
            <a:off x="1325880" y="3200400"/>
            <a:ext cx="3840480" cy="777240"/>
          </a:xfrm>
          <a:prstGeom prst="rect">
            <a:avLst/>
          </a:prstGeom>
          <a:noFill/>
          <a:ln/>
        </p:spPr>
        <p:txBody>
          <a:bodyPr wrap="square" lIns="0" tIns="0" rIns="0" bIns="0" rtlCol="0" anchor="t"/>
          <a:lstStyle/>
          <a:p>
            <a:pPr indent="0" marL="0">
              <a:buNone/>
            </a:pPr>
            <a:r>
              <a:rPr lang="en-US" sz="1600" b="1" dirty="0">
                <a:solidFill>
                  <a:schemeClr val="tx2"/>
                </a:solidFill>
              </a:rPr>
              <a:t>Format invalide</a:t>
            </a:r>
            <a:endParaRPr lang="en-US" sz="1600" dirty="0"/>
          </a:p>
          <a:p>
            <a:pPr indent="0" marL="0">
              <a:buNone/>
            </a:pPr>
            <a:r>
              <a:rPr lang="en-US" sz="1300" dirty="0">
                <a:solidFill>
                  <a:schemeClr val="accent6"/>
                </a:solidFill>
              </a:rPr>
              <a:t>Date, nombre, courriel, téléphone, motif</a:t>
            </a:r>
            <a:endParaRPr lang="en-US" sz="1600" dirty="0"/>
          </a:p>
        </p:txBody>
      </p:sp>
      <p:sp>
        <p:nvSpPr>
          <p:cNvPr id="12" name="Doublon potentiel cercle"/>
          <p:cNvSpPr/>
          <p:nvPr/>
        </p:nvSpPr>
        <p:spPr>
          <a:xfrm>
            <a:off x="548640" y="4160520"/>
            <a:ext cx="603504" cy="603504"/>
          </a:xfrm>
          <a:prstGeom prst="ellipse">
            <a:avLst/>
          </a:prstGeom>
          <a:solidFill>
            <a:srgbClr val="D99A00"/>
          </a:solidFill>
          <a:ln/>
        </p:spPr>
      </p:sp>
      <p:pic>
        <p:nvPicPr>
          <p:cNvPr id="13" name="Doublon potentiel icône" descr="Doublon potentiel">    </p:cNvPr>
          <p:cNvPicPr>
            <a:picLocks noChangeAspect="1"/>
          </p:cNvPicPr>
          <p:nvPr/>
        </p:nvPicPr>
        <p:blipFill>
          <a:blip r:embed="rId4"/>
          <a:stretch>
            <a:fillRect/>
          </a:stretch>
        </p:blipFill>
        <p:spPr>
          <a:xfrm>
            <a:off x="699516" y="4311396"/>
            <a:ext cx="301752" cy="301752"/>
          </a:xfrm>
          <a:prstGeom prst="rect">
            <a:avLst/>
          </a:prstGeom>
        </p:spPr>
      </p:pic>
      <p:sp>
        <p:nvSpPr>
          <p:cNvPr id="14" name="Text 8"/>
          <p:cNvSpPr txBox="1"/>
          <p:nvPr/>
        </p:nvSpPr>
        <p:spPr>
          <a:xfrm>
            <a:off x="1325880" y="4114800"/>
            <a:ext cx="3840480" cy="777240"/>
          </a:xfrm>
          <a:prstGeom prst="rect">
            <a:avLst/>
          </a:prstGeom>
          <a:noFill/>
          <a:ln/>
        </p:spPr>
        <p:txBody>
          <a:bodyPr wrap="square" lIns="0" tIns="0" rIns="0" bIns="0" rtlCol="0" anchor="t"/>
          <a:lstStyle/>
          <a:p>
            <a:pPr indent="0" marL="0">
              <a:buNone/>
            </a:pPr>
            <a:r>
              <a:rPr lang="en-US" sz="1600" b="1" dirty="0">
                <a:solidFill>
                  <a:schemeClr val="tx2"/>
                </a:solidFill>
              </a:rPr>
              <a:t>Doublon potentiel</a:t>
            </a:r>
            <a:endParaRPr lang="en-US" sz="1600" dirty="0"/>
          </a:p>
          <a:p>
            <a:pPr indent="0" marL="0">
              <a:buNone/>
            </a:pPr>
            <a:r>
              <a:rPr lang="en-US" sz="1300" dirty="0">
                <a:solidFill>
                  <a:schemeClr val="accent6"/>
                </a:solidFill>
              </a:rPr>
              <a:t>Selon les critères choisis, casse et accents ignorés</a:t>
            </a:r>
            <a:endParaRPr lang="en-US" sz="1600" dirty="0"/>
          </a:p>
        </p:txBody>
      </p:sp>
      <p:sp>
        <p:nvSpPr>
          <p:cNvPr id="15" name="Incohérence entre champs cercle"/>
          <p:cNvSpPr/>
          <p:nvPr/>
        </p:nvSpPr>
        <p:spPr>
          <a:xfrm>
            <a:off x="548640" y="5074920"/>
            <a:ext cx="603504" cy="603504"/>
          </a:xfrm>
          <a:prstGeom prst="ellipse">
            <a:avLst/>
          </a:prstGeom>
          <a:solidFill>
            <a:srgbClr val="006F3C"/>
          </a:solidFill>
          <a:ln/>
        </p:spPr>
      </p:sp>
      <p:pic>
        <p:nvPicPr>
          <p:cNvPr id="16" name="Incohérence entre champs icône" descr="Incohérence entre champs">    </p:cNvPr>
          <p:cNvPicPr>
            <a:picLocks noChangeAspect="1"/>
          </p:cNvPicPr>
          <p:nvPr/>
        </p:nvPicPr>
        <p:blipFill>
          <a:blip r:embed="rId5"/>
          <a:stretch>
            <a:fillRect/>
          </a:stretch>
        </p:blipFill>
        <p:spPr>
          <a:xfrm>
            <a:off x="699516" y="5225796"/>
            <a:ext cx="301752" cy="301752"/>
          </a:xfrm>
          <a:prstGeom prst="rect">
            <a:avLst/>
          </a:prstGeom>
        </p:spPr>
      </p:pic>
      <p:sp>
        <p:nvSpPr>
          <p:cNvPr id="17" name="Text 10"/>
          <p:cNvSpPr txBox="1"/>
          <p:nvPr/>
        </p:nvSpPr>
        <p:spPr>
          <a:xfrm>
            <a:off x="1325880" y="5029200"/>
            <a:ext cx="3840480" cy="777240"/>
          </a:xfrm>
          <a:prstGeom prst="rect">
            <a:avLst/>
          </a:prstGeom>
          <a:noFill/>
          <a:ln/>
        </p:spPr>
        <p:txBody>
          <a:bodyPr wrap="square" lIns="0" tIns="0" rIns="0" bIns="0" rtlCol="0" anchor="t"/>
          <a:lstStyle/>
          <a:p>
            <a:pPr indent="0" marL="0">
              <a:buNone/>
            </a:pPr>
            <a:r>
              <a:rPr lang="en-US" sz="1600" b="1" dirty="0">
                <a:solidFill>
                  <a:schemeClr val="tx2"/>
                </a:solidFill>
              </a:rPr>
              <a:t>Incohérence entre champs</a:t>
            </a:r>
            <a:endParaRPr lang="en-US" sz="1600" dirty="0"/>
          </a:p>
          <a:p>
            <a:pPr indent="0" marL="0">
              <a:buNone/>
            </a:pPr>
            <a:r>
              <a:rPr lang="en-US" sz="1300" dirty="0">
                <a:solidFill>
                  <a:schemeClr val="accent6"/>
                </a:solidFill>
              </a:rPr>
              <a:t>Ex. plus d'enfants que de personnes</a:t>
            </a:r>
            <a:endParaRPr lang="en-US" sz="1600" dirty="0"/>
          </a:p>
        </p:txBody>
      </p:sp>
      <p:sp>
        <p:nvSpPr>
          <p:cNvPr id="18" name="Réponse avec doublon et valeur inhabituelle cadre"/>
          <p:cNvSpPr/>
          <p:nvPr/>
        </p:nvSpPr>
        <p:spPr>
          <a:xfrm>
            <a:off x="5440680" y="1371600"/>
            <a:ext cx="6172200" cy="3857625"/>
          </a:xfrm>
          <a:prstGeom prst="rect">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pic>
        <p:nvPicPr>
          <p:cNvPr id="19" name="Réponse avec doublon et valeur inhabituelle" descr="Réponse avec doublon et valeur inhabituelle">    </p:cNvPr>
          <p:cNvPicPr>
            <a:picLocks noChangeAspect="1"/>
          </p:cNvPicPr>
          <p:nvPr/>
        </p:nvPicPr>
        <p:blipFill>
          <a:blip r:embed="rId6"/>
          <a:stretch>
            <a:fillRect/>
          </a:stretch>
        </p:blipFill>
        <p:spPr>
          <a:xfrm>
            <a:off x="5440680" y="1371600"/>
            <a:ext cx="6172200" cy="3857625"/>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Un circuit de validation tracé de bout en bout</a:t>
            </a:r>
            <a:endParaRPr lang="en-US" sz="3200" dirty="0"/>
          </a:p>
        </p:txBody>
      </p:sp>
      <p:sp>
        <p:nvSpPr>
          <p:cNvPr id="3" name="statut brouillon"/>
          <p:cNvSpPr/>
          <p:nvPr/>
        </p:nvSpPr>
        <p:spPr>
          <a:xfrm>
            <a:off x="548640" y="1737360"/>
            <a:ext cx="1828800" cy="685800"/>
          </a:xfrm>
          <a:prstGeom prst="roundRect">
            <a:avLst>
              <a:gd name="adj" fmla="val 13333"/>
            </a:avLst>
          </a:prstGeom>
          <a:solidFill>
            <a:schemeClr val="bg2"/>
          </a:solidFill>
          <a:ln/>
        </p:spPr>
      </p:sp>
      <p:sp>
        <p:nvSpPr>
          <p:cNvPr id="4" name="statut brouillon texte"/>
          <p:cNvSpPr txBox="1"/>
          <p:nvPr/>
        </p:nvSpPr>
        <p:spPr>
          <a:xfrm>
            <a:off x="548640" y="1737360"/>
            <a:ext cx="1828800" cy="685800"/>
          </a:xfrm>
          <a:prstGeom prst="rect">
            <a:avLst/>
          </a:prstGeom>
          <a:noFill/>
          <a:ln/>
        </p:spPr>
        <p:txBody>
          <a:bodyPr wrap="square" lIns="0" tIns="0" rIns="0" bIns="0" rtlCol="0" anchor="ctr"/>
          <a:lstStyle/>
          <a:p>
            <a:pPr algn="ctr" indent="0" marL="0">
              <a:buNone/>
            </a:pPr>
            <a:r>
              <a:rPr lang="en-US" sz="1500" b="1" dirty="0">
                <a:solidFill>
                  <a:schemeClr val="tx2"/>
                </a:solidFill>
              </a:rPr>
              <a:t>Brouillon</a:t>
            </a:r>
            <a:endParaRPr lang="en-US" sz="1500" dirty="0"/>
          </a:p>
        </p:txBody>
      </p:sp>
      <p:sp>
        <p:nvSpPr>
          <p:cNvPr id="5" name="statut soumise"/>
          <p:cNvSpPr/>
          <p:nvPr/>
        </p:nvSpPr>
        <p:spPr>
          <a:xfrm>
            <a:off x="548640" y="3017520"/>
            <a:ext cx="1828800" cy="685800"/>
          </a:xfrm>
          <a:prstGeom prst="roundRect">
            <a:avLst>
              <a:gd name="adj" fmla="val 13333"/>
            </a:avLst>
          </a:prstGeom>
          <a:solidFill>
            <a:schemeClr val="accent4"/>
          </a:solidFill>
          <a:ln/>
        </p:spPr>
      </p:sp>
      <p:sp>
        <p:nvSpPr>
          <p:cNvPr id="6" name="statut soumise texte"/>
          <p:cNvSpPr txBox="1"/>
          <p:nvPr/>
        </p:nvSpPr>
        <p:spPr>
          <a:xfrm>
            <a:off x="548640" y="3017520"/>
            <a:ext cx="1828800" cy="685800"/>
          </a:xfrm>
          <a:prstGeom prst="rect">
            <a:avLst/>
          </a:prstGeom>
          <a:noFill/>
          <a:ln/>
        </p:spPr>
        <p:txBody>
          <a:bodyPr wrap="square" lIns="0" tIns="0" rIns="0" bIns="0" rtlCol="0" anchor="ctr"/>
          <a:lstStyle/>
          <a:p>
            <a:pPr algn="ctr" indent="0" marL="0">
              <a:buNone/>
            </a:pPr>
            <a:r>
              <a:rPr lang="en-US" sz="1500" b="1" dirty="0">
                <a:solidFill>
                  <a:schemeClr val="bg1"/>
                </a:solidFill>
              </a:rPr>
              <a:t>Soumise</a:t>
            </a:r>
            <a:endParaRPr lang="en-US" sz="1500" dirty="0"/>
          </a:p>
        </p:txBody>
      </p:sp>
      <p:sp>
        <p:nvSpPr>
          <p:cNvPr id="7" name="statut validée"/>
          <p:cNvSpPr/>
          <p:nvPr/>
        </p:nvSpPr>
        <p:spPr>
          <a:xfrm>
            <a:off x="3017520" y="2011680"/>
            <a:ext cx="1828800" cy="685800"/>
          </a:xfrm>
          <a:prstGeom prst="roundRect">
            <a:avLst>
              <a:gd name="adj" fmla="val 13333"/>
            </a:avLst>
          </a:prstGeom>
          <a:solidFill>
            <a:schemeClr val="accent1"/>
          </a:solidFill>
          <a:ln/>
        </p:spPr>
      </p:sp>
      <p:sp>
        <p:nvSpPr>
          <p:cNvPr id="8" name="statut validée texte"/>
          <p:cNvSpPr txBox="1"/>
          <p:nvPr/>
        </p:nvSpPr>
        <p:spPr>
          <a:xfrm>
            <a:off x="3017520" y="2011680"/>
            <a:ext cx="1828800" cy="685800"/>
          </a:xfrm>
          <a:prstGeom prst="rect">
            <a:avLst/>
          </a:prstGeom>
          <a:noFill/>
          <a:ln/>
        </p:spPr>
        <p:txBody>
          <a:bodyPr wrap="square" lIns="0" tIns="0" rIns="0" bIns="0" rtlCol="0" anchor="ctr"/>
          <a:lstStyle/>
          <a:p>
            <a:pPr algn="ctr" indent="0" marL="0">
              <a:buNone/>
            </a:pPr>
            <a:r>
              <a:rPr lang="en-US" sz="1500" b="1" dirty="0">
                <a:solidFill>
                  <a:schemeClr val="bg1"/>
                </a:solidFill>
              </a:rPr>
              <a:t>Validée</a:t>
            </a:r>
            <a:endParaRPr lang="en-US" sz="1500" dirty="0"/>
          </a:p>
        </p:txBody>
      </p:sp>
      <p:sp>
        <p:nvSpPr>
          <p:cNvPr id="9" name="statut à corriger"/>
          <p:cNvSpPr/>
          <p:nvPr/>
        </p:nvSpPr>
        <p:spPr>
          <a:xfrm>
            <a:off x="3017520" y="3017520"/>
            <a:ext cx="1828800" cy="685800"/>
          </a:xfrm>
          <a:prstGeom prst="roundRect">
            <a:avLst>
              <a:gd name="adj" fmla="val 13333"/>
            </a:avLst>
          </a:prstGeom>
          <a:solidFill>
            <a:schemeClr val="accent2"/>
          </a:solidFill>
          <a:ln/>
        </p:spPr>
      </p:sp>
      <p:sp>
        <p:nvSpPr>
          <p:cNvPr id="10" name="statut à corriger texte"/>
          <p:cNvSpPr txBox="1"/>
          <p:nvPr/>
        </p:nvSpPr>
        <p:spPr>
          <a:xfrm>
            <a:off x="3017520" y="3017520"/>
            <a:ext cx="1828800" cy="685800"/>
          </a:xfrm>
          <a:prstGeom prst="rect">
            <a:avLst/>
          </a:prstGeom>
          <a:noFill/>
          <a:ln/>
        </p:spPr>
        <p:txBody>
          <a:bodyPr wrap="square" lIns="0" tIns="0" rIns="0" bIns="0" rtlCol="0" anchor="ctr"/>
          <a:lstStyle/>
          <a:p>
            <a:pPr algn="ctr" indent="0" marL="0">
              <a:buNone/>
            </a:pPr>
            <a:r>
              <a:rPr lang="en-US" sz="1500" b="1" dirty="0">
                <a:solidFill>
                  <a:schemeClr val="bg1"/>
                </a:solidFill>
              </a:rPr>
              <a:t>À corriger</a:t>
            </a:r>
            <a:endParaRPr lang="en-US" sz="1500" dirty="0"/>
          </a:p>
        </p:txBody>
      </p:sp>
      <p:sp>
        <p:nvSpPr>
          <p:cNvPr id="11" name="statut rejetée"/>
          <p:cNvSpPr/>
          <p:nvPr/>
        </p:nvSpPr>
        <p:spPr>
          <a:xfrm>
            <a:off x="3017520" y="4023360"/>
            <a:ext cx="1828800" cy="685800"/>
          </a:xfrm>
          <a:prstGeom prst="roundRect">
            <a:avLst>
              <a:gd name="adj" fmla="val 13333"/>
            </a:avLst>
          </a:prstGeom>
          <a:solidFill>
            <a:schemeClr val="accent3"/>
          </a:solidFill>
          <a:ln/>
        </p:spPr>
      </p:sp>
      <p:sp>
        <p:nvSpPr>
          <p:cNvPr id="12" name="statut rejetée texte"/>
          <p:cNvSpPr txBox="1"/>
          <p:nvPr/>
        </p:nvSpPr>
        <p:spPr>
          <a:xfrm>
            <a:off x="3017520" y="4023360"/>
            <a:ext cx="1828800" cy="685800"/>
          </a:xfrm>
          <a:prstGeom prst="rect">
            <a:avLst/>
          </a:prstGeom>
          <a:noFill/>
          <a:ln/>
        </p:spPr>
        <p:txBody>
          <a:bodyPr wrap="square" lIns="0" tIns="0" rIns="0" bIns="0" rtlCol="0" anchor="ctr"/>
          <a:lstStyle/>
          <a:p>
            <a:pPr algn="ctr" indent="0" marL="0">
              <a:buNone/>
            </a:pPr>
            <a:r>
              <a:rPr lang="en-US" sz="1500" b="1" dirty="0">
                <a:solidFill>
                  <a:schemeClr val="bg1"/>
                </a:solidFill>
              </a:rPr>
              <a:t>Rejetée</a:t>
            </a:r>
            <a:endParaRPr lang="en-US" sz="1500" dirty="0"/>
          </a:p>
        </p:txBody>
      </p:sp>
      <p:sp>
        <p:nvSpPr>
          <p:cNvPr id="13" name="flèche soumission"/>
          <p:cNvSpPr/>
          <p:nvPr/>
        </p:nvSpPr>
        <p:spPr>
          <a:xfrm>
            <a:off x="1463040" y="2423160"/>
            <a:ext cx="0" cy="594360"/>
          </a:xfrm>
          <a:prstGeom prst="line">
            <a:avLst/>
          </a:prstGeom>
          <a:noFill/>
          <a:ln w="19050">
            <a:solidFill>
              <a:srgbClr val="5B6475"/>
            </a:solidFill>
            <a:prstDash val="solid"/>
            <a:tailEnd type="triangle"/>
          </a:ln>
        </p:spPr>
      </p:sp>
      <p:sp>
        <p:nvSpPr>
          <p:cNvPr id="14" name="flèche validée"/>
          <p:cNvSpPr/>
          <p:nvPr/>
        </p:nvSpPr>
        <p:spPr>
          <a:xfrm flipV="1">
            <a:off x="2377440" y="2350008"/>
            <a:ext cx="640080" cy="1005840"/>
          </a:xfrm>
          <a:prstGeom prst="line">
            <a:avLst/>
          </a:prstGeom>
          <a:noFill/>
          <a:ln w="19050">
            <a:solidFill>
              <a:srgbClr val="5B6475"/>
            </a:solidFill>
            <a:prstDash val="solid"/>
            <a:tailEnd type="triangle"/>
          </a:ln>
        </p:spPr>
      </p:sp>
      <p:sp>
        <p:nvSpPr>
          <p:cNvPr id="15" name="flèche à corriger"/>
          <p:cNvSpPr/>
          <p:nvPr/>
        </p:nvSpPr>
        <p:spPr>
          <a:xfrm>
            <a:off x="2377440" y="3355848"/>
            <a:ext cx="640080" cy="0"/>
          </a:xfrm>
          <a:prstGeom prst="line">
            <a:avLst/>
          </a:prstGeom>
          <a:noFill/>
          <a:ln w="19050">
            <a:solidFill>
              <a:srgbClr val="5B6475"/>
            </a:solidFill>
            <a:prstDash val="solid"/>
            <a:tailEnd type="triangle"/>
          </a:ln>
        </p:spPr>
      </p:sp>
      <p:sp>
        <p:nvSpPr>
          <p:cNvPr id="16" name="flèche rejetée"/>
          <p:cNvSpPr/>
          <p:nvPr/>
        </p:nvSpPr>
        <p:spPr>
          <a:xfrm>
            <a:off x="2377440" y="3355848"/>
            <a:ext cx="640080" cy="1005840"/>
          </a:xfrm>
          <a:prstGeom prst="line">
            <a:avLst/>
          </a:prstGeom>
          <a:noFill/>
          <a:ln w="19050">
            <a:solidFill>
              <a:srgbClr val="5B6475"/>
            </a:solidFill>
            <a:prstDash val="solid"/>
            <a:tailEnd type="triangle"/>
          </a:ln>
        </p:spPr>
      </p:sp>
      <p:sp>
        <p:nvSpPr>
          <p:cNvPr id="17" name="Text 15"/>
          <p:cNvSpPr txBox="1"/>
          <p:nvPr/>
        </p:nvSpPr>
        <p:spPr>
          <a:xfrm>
            <a:off x="548640" y="4983480"/>
            <a:ext cx="4480560" cy="914400"/>
          </a:xfrm>
          <a:prstGeom prst="rect">
            <a:avLst/>
          </a:prstGeom>
          <a:noFill/>
          <a:ln/>
        </p:spPr>
        <p:txBody>
          <a:bodyPr wrap="square" lIns="0" tIns="0" rIns="0" bIns="0" rtlCol="0" anchor="t"/>
          <a:lstStyle/>
          <a:p>
            <a:pPr indent="0" marL="0">
              <a:buNone/>
            </a:pPr>
            <a:r>
              <a:rPr lang="en-US" sz="1400" dirty="0">
                <a:solidFill>
                  <a:schemeClr val="accent6"/>
                </a:solidFill>
              </a:rPr>
              <a:t>« À corriger » renvoie la réponse à l'agent, qui la resoumet. Rejet et renvoi exigent un commentaire.</a:t>
            </a:r>
            <a:endParaRPr lang="en-US" sz="1400" dirty="0"/>
          </a:p>
        </p:txBody>
      </p:sp>
      <p:sp>
        <p:nvSpPr>
          <p:cNvPr id="18" name="Écran de validation du superviseur cadre"/>
          <p:cNvSpPr/>
          <p:nvPr/>
        </p:nvSpPr>
        <p:spPr>
          <a:xfrm>
            <a:off x="5440680" y="1371600"/>
            <a:ext cx="6172200" cy="3857625"/>
          </a:xfrm>
          <a:prstGeom prst="rect">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pic>
        <p:nvPicPr>
          <p:cNvPr id="19" name="Écran de validation du superviseur" descr="Écran de validation du superviseur">    </p:cNvPr>
          <p:cNvPicPr>
            <a:picLocks noChangeAspect="1"/>
          </p:cNvPicPr>
          <p:nvPr/>
        </p:nvPicPr>
        <p:blipFill>
          <a:blip r:embed="rId1"/>
          <a:stretch>
            <a:fillRect/>
          </a:stretch>
        </p:blipFill>
        <p:spPr>
          <a:xfrm>
            <a:off x="5440680" y="1371600"/>
            <a:ext cx="6172200" cy="3857625"/>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Sécurité et confidentialité intégrées</a:t>
            </a:r>
            <a:endParaRPr lang="en-US" sz="3200" dirty="0"/>
          </a:p>
        </p:txBody>
      </p:sp>
      <p:sp>
        <p:nvSpPr>
          <p:cNvPr id="3" name="sécurité Mots de passe"/>
          <p:cNvSpPr/>
          <p:nvPr/>
        </p:nvSpPr>
        <p:spPr>
          <a:xfrm>
            <a:off x="548640" y="1417320"/>
            <a:ext cx="3474720" cy="2011680"/>
          </a:xfrm>
          <a:prstGeom prst="roundRect">
            <a:avLst>
              <a:gd name="adj" fmla="val 5455"/>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4" name="Mots de passe cercle"/>
          <p:cNvSpPr/>
          <p:nvPr/>
        </p:nvSpPr>
        <p:spPr>
          <a:xfrm>
            <a:off x="822960" y="1691640"/>
            <a:ext cx="640080" cy="640080"/>
          </a:xfrm>
          <a:prstGeom prst="ellipse">
            <a:avLst/>
          </a:prstGeom>
          <a:solidFill>
            <a:srgbClr val="006F3C"/>
          </a:solidFill>
          <a:ln/>
        </p:spPr>
      </p:sp>
      <p:pic>
        <p:nvPicPr>
          <p:cNvPr id="5" name="Mots de passe icône" descr="Mots de passe">    </p:cNvPr>
          <p:cNvPicPr>
            <a:picLocks noChangeAspect="1"/>
          </p:cNvPicPr>
          <p:nvPr/>
        </p:nvPicPr>
        <p:blipFill>
          <a:blip r:embed="rId1"/>
          <a:stretch>
            <a:fillRect/>
          </a:stretch>
        </p:blipFill>
        <p:spPr>
          <a:xfrm>
            <a:off x="982980" y="1851660"/>
            <a:ext cx="320040" cy="320040"/>
          </a:xfrm>
          <a:prstGeom prst="rect">
            <a:avLst/>
          </a:prstGeom>
        </p:spPr>
      </p:pic>
      <p:sp>
        <p:nvSpPr>
          <p:cNvPr id="6" name="Text 3"/>
          <p:cNvSpPr txBox="1"/>
          <p:nvPr/>
        </p:nvSpPr>
        <p:spPr>
          <a:xfrm>
            <a:off x="1600200" y="1691640"/>
            <a:ext cx="2286000" cy="640080"/>
          </a:xfrm>
          <a:prstGeom prst="rect">
            <a:avLst/>
          </a:prstGeom>
          <a:noFill/>
          <a:ln/>
        </p:spPr>
        <p:txBody>
          <a:bodyPr wrap="square" lIns="0" tIns="0" rIns="0" bIns="0" rtlCol="0" anchor="ctr"/>
          <a:lstStyle/>
          <a:p>
            <a:pPr indent="0" marL="0">
              <a:buNone/>
            </a:pPr>
            <a:r>
              <a:rPr lang="en-US" sz="1800" b="1" dirty="0">
                <a:solidFill>
                  <a:schemeClr val="tx2"/>
                </a:solidFill>
              </a:rPr>
              <a:t>Mots de passe</a:t>
            </a:r>
            <a:endParaRPr lang="en-US" sz="1800" dirty="0"/>
          </a:p>
        </p:txBody>
      </p:sp>
      <p:sp>
        <p:nvSpPr>
          <p:cNvPr id="7" name="Text 4"/>
          <p:cNvSpPr txBox="1"/>
          <p:nvPr/>
        </p:nvSpPr>
        <p:spPr>
          <a:xfrm>
            <a:off x="822960" y="2468880"/>
            <a:ext cx="2971800" cy="822960"/>
          </a:xfrm>
          <a:prstGeom prst="rect">
            <a:avLst/>
          </a:prstGeom>
          <a:noFill/>
          <a:ln/>
        </p:spPr>
        <p:txBody>
          <a:bodyPr wrap="square" lIns="0" tIns="0" rIns="0" bIns="0" rtlCol="0" anchor="t"/>
          <a:lstStyle/>
          <a:p>
            <a:pPr indent="0" marL="0">
              <a:buNone/>
            </a:pPr>
            <a:r>
              <a:rPr lang="en-US" sz="1400" dirty="0">
                <a:solidFill>
                  <a:schemeClr val="tx1"/>
                </a:solidFill>
              </a:rPr>
              <a:t>Hachés en argon2id, jamais stockés en clair</a:t>
            </a:r>
            <a:endParaRPr lang="en-US" sz="1400" dirty="0"/>
          </a:p>
        </p:txBody>
      </p:sp>
      <p:sp>
        <p:nvSpPr>
          <p:cNvPr id="8" name="sécurité Sessions"/>
          <p:cNvSpPr/>
          <p:nvPr/>
        </p:nvSpPr>
        <p:spPr>
          <a:xfrm>
            <a:off x="4297680" y="1417320"/>
            <a:ext cx="3474720" cy="2011680"/>
          </a:xfrm>
          <a:prstGeom prst="roundRect">
            <a:avLst>
              <a:gd name="adj" fmla="val 5455"/>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9" name="Sessions cercle"/>
          <p:cNvSpPr/>
          <p:nvPr/>
        </p:nvSpPr>
        <p:spPr>
          <a:xfrm>
            <a:off x="4572000" y="1691640"/>
            <a:ext cx="640080" cy="640080"/>
          </a:xfrm>
          <a:prstGeom prst="ellipse">
            <a:avLst/>
          </a:prstGeom>
          <a:solidFill>
            <a:srgbClr val="006F3C"/>
          </a:solidFill>
          <a:ln/>
        </p:spPr>
      </p:sp>
      <p:pic>
        <p:nvPicPr>
          <p:cNvPr id="10" name="Sessions icône" descr="Sessions">    </p:cNvPr>
          <p:cNvPicPr>
            <a:picLocks noChangeAspect="1"/>
          </p:cNvPicPr>
          <p:nvPr/>
        </p:nvPicPr>
        <p:blipFill>
          <a:blip r:embed="rId2"/>
          <a:stretch>
            <a:fillRect/>
          </a:stretch>
        </p:blipFill>
        <p:spPr>
          <a:xfrm>
            <a:off x="4732020" y="1851660"/>
            <a:ext cx="320040" cy="320040"/>
          </a:xfrm>
          <a:prstGeom prst="rect">
            <a:avLst/>
          </a:prstGeom>
        </p:spPr>
      </p:pic>
      <p:sp>
        <p:nvSpPr>
          <p:cNvPr id="11" name="Text 7"/>
          <p:cNvSpPr txBox="1"/>
          <p:nvPr/>
        </p:nvSpPr>
        <p:spPr>
          <a:xfrm>
            <a:off x="5349240" y="1691640"/>
            <a:ext cx="2286000" cy="640080"/>
          </a:xfrm>
          <a:prstGeom prst="rect">
            <a:avLst/>
          </a:prstGeom>
          <a:noFill/>
          <a:ln/>
        </p:spPr>
        <p:txBody>
          <a:bodyPr wrap="square" lIns="0" tIns="0" rIns="0" bIns="0" rtlCol="0" anchor="ctr"/>
          <a:lstStyle/>
          <a:p>
            <a:pPr indent="0" marL="0">
              <a:buNone/>
            </a:pPr>
            <a:r>
              <a:rPr lang="en-US" sz="1800" b="1" dirty="0">
                <a:solidFill>
                  <a:schemeClr val="tx2"/>
                </a:solidFill>
              </a:rPr>
              <a:t>Sessions</a:t>
            </a:r>
            <a:endParaRPr lang="en-US" sz="1800" dirty="0"/>
          </a:p>
        </p:txBody>
      </p:sp>
      <p:sp>
        <p:nvSpPr>
          <p:cNvPr id="12" name="Text 8"/>
          <p:cNvSpPr txBox="1"/>
          <p:nvPr/>
        </p:nvSpPr>
        <p:spPr>
          <a:xfrm>
            <a:off x="4572000" y="2468880"/>
            <a:ext cx="2971800" cy="822960"/>
          </a:xfrm>
          <a:prstGeom prst="rect">
            <a:avLst/>
          </a:prstGeom>
          <a:noFill/>
          <a:ln/>
        </p:spPr>
        <p:txBody>
          <a:bodyPr wrap="square" lIns="0" tIns="0" rIns="0" bIns="0" rtlCol="0" anchor="t"/>
          <a:lstStyle/>
          <a:p>
            <a:pPr indent="0" marL="0">
              <a:buNone/>
            </a:pPr>
            <a:r>
              <a:rPr lang="en-US" sz="1400" dirty="0">
                <a:solidFill>
                  <a:schemeClr val="tx1"/>
                </a:solidFill>
              </a:rPr>
              <a:t>Cookie protégé, jeton haché en base, expiration et révocation</a:t>
            </a:r>
            <a:endParaRPr lang="en-US" sz="1400" dirty="0"/>
          </a:p>
        </p:txBody>
      </p:sp>
      <p:sp>
        <p:nvSpPr>
          <p:cNvPr id="13" name="sécurité Contrôle d'accès"/>
          <p:cNvSpPr/>
          <p:nvPr/>
        </p:nvSpPr>
        <p:spPr>
          <a:xfrm>
            <a:off x="8046720" y="1417320"/>
            <a:ext cx="3474720" cy="2011680"/>
          </a:xfrm>
          <a:prstGeom prst="roundRect">
            <a:avLst>
              <a:gd name="adj" fmla="val 5455"/>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14" name="Contrôle d'accès cercle"/>
          <p:cNvSpPr/>
          <p:nvPr/>
        </p:nvSpPr>
        <p:spPr>
          <a:xfrm>
            <a:off x="8321040" y="1691640"/>
            <a:ext cx="640080" cy="640080"/>
          </a:xfrm>
          <a:prstGeom prst="ellipse">
            <a:avLst/>
          </a:prstGeom>
          <a:solidFill>
            <a:srgbClr val="006F3C"/>
          </a:solidFill>
          <a:ln/>
        </p:spPr>
      </p:sp>
      <p:pic>
        <p:nvPicPr>
          <p:cNvPr id="15" name="Contrôle d'accès icône" descr="Contrôle d'accès">    </p:cNvPr>
          <p:cNvPicPr>
            <a:picLocks noChangeAspect="1"/>
          </p:cNvPicPr>
          <p:nvPr/>
        </p:nvPicPr>
        <p:blipFill>
          <a:blip r:embed="rId3"/>
          <a:stretch>
            <a:fillRect/>
          </a:stretch>
        </p:blipFill>
        <p:spPr>
          <a:xfrm>
            <a:off x="8481060" y="1851660"/>
            <a:ext cx="320040" cy="320040"/>
          </a:xfrm>
          <a:prstGeom prst="rect">
            <a:avLst/>
          </a:prstGeom>
        </p:spPr>
      </p:pic>
      <p:sp>
        <p:nvSpPr>
          <p:cNvPr id="16" name="Text 11"/>
          <p:cNvSpPr txBox="1"/>
          <p:nvPr/>
        </p:nvSpPr>
        <p:spPr>
          <a:xfrm>
            <a:off x="9098280" y="1691640"/>
            <a:ext cx="2286000" cy="640080"/>
          </a:xfrm>
          <a:prstGeom prst="rect">
            <a:avLst/>
          </a:prstGeom>
          <a:noFill/>
          <a:ln/>
        </p:spPr>
        <p:txBody>
          <a:bodyPr wrap="square" lIns="0" tIns="0" rIns="0" bIns="0" rtlCol="0" anchor="ctr"/>
          <a:lstStyle/>
          <a:p>
            <a:pPr indent="0" marL="0">
              <a:buNone/>
            </a:pPr>
            <a:r>
              <a:rPr lang="en-US" sz="1800" b="1" dirty="0">
                <a:solidFill>
                  <a:schemeClr val="tx2"/>
                </a:solidFill>
              </a:rPr>
              <a:t>Contrôle d'accès</a:t>
            </a:r>
            <a:endParaRPr lang="en-US" sz="1800" dirty="0"/>
          </a:p>
        </p:txBody>
      </p:sp>
      <p:sp>
        <p:nvSpPr>
          <p:cNvPr id="17" name="Text 12"/>
          <p:cNvSpPr txBox="1"/>
          <p:nvPr/>
        </p:nvSpPr>
        <p:spPr>
          <a:xfrm>
            <a:off x="8321040" y="2468880"/>
            <a:ext cx="2971800" cy="822960"/>
          </a:xfrm>
          <a:prstGeom prst="rect">
            <a:avLst/>
          </a:prstGeom>
          <a:noFill/>
          <a:ln/>
        </p:spPr>
        <p:txBody>
          <a:bodyPr wrap="square" lIns="0" tIns="0" rIns="0" bIns="0" rtlCol="0" anchor="t"/>
          <a:lstStyle/>
          <a:p>
            <a:pPr indent="0" marL="0">
              <a:buNone/>
            </a:pPr>
            <a:r>
              <a:rPr lang="en-US" sz="1400" dirty="0">
                <a:solidFill>
                  <a:schemeClr val="tx1"/>
                </a:solidFill>
              </a:rPr>
              <a:t>Vérifié côté serveur sur chaque page, action et export</a:t>
            </a:r>
            <a:endParaRPr lang="en-US" sz="1400" dirty="0"/>
          </a:p>
        </p:txBody>
      </p:sp>
      <p:sp>
        <p:nvSpPr>
          <p:cNvPr id="18" name="sécurité Validation des entrées"/>
          <p:cNvSpPr/>
          <p:nvPr/>
        </p:nvSpPr>
        <p:spPr>
          <a:xfrm>
            <a:off x="548640" y="3657600"/>
            <a:ext cx="3474720" cy="2011680"/>
          </a:xfrm>
          <a:prstGeom prst="roundRect">
            <a:avLst>
              <a:gd name="adj" fmla="val 5455"/>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19" name="Validation des entrées cercle"/>
          <p:cNvSpPr/>
          <p:nvPr/>
        </p:nvSpPr>
        <p:spPr>
          <a:xfrm>
            <a:off x="822960" y="3931920"/>
            <a:ext cx="640080" cy="640080"/>
          </a:xfrm>
          <a:prstGeom prst="ellipse">
            <a:avLst/>
          </a:prstGeom>
          <a:solidFill>
            <a:srgbClr val="006F3C"/>
          </a:solidFill>
          <a:ln/>
        </p:spPr>
      </p:sp>
      <p:pic>
        <p:nvPicPr>
          <p:cNvPr id="20" name="Validation des entrées icône" descr="Validation des entrées">    </p:cNvPr>
          <p:cNvPicPr>
            <a:picLocks noChangeAspect="1"/>
          </p:cNvPicPr>
          <p:nvPr/>
        </p:nvPicPr>
        <p:blipFill>
          <a:blip r:embed="rId4"/>
          <a:stretch>
            <a:fillRect/>
          </a:stretch>
        </p:blipFill>
        <p:spPr>
          <a:xfrm>
            <a:off x="982980" y="4091940"/>
            <a:ext cx="320040" cy="320040"/>
          </a:xfrm>
          <a:prstGeom prst="rect">
            <a:avLst/>
          </a:prstGeom>
        </p:spPr>
      </p:pic>
      <p:sp>
        <p:nvSpPr>
          <p:cNvPr id="21" name="Text 15"/>
          <p:cNvSpPr txBox="1"/>
          <p:nvPr/>
        </p:nvSpPr>
        <p:spPr>
          <a:xfrm>
            <a:off x="1600200" y="3931920"/>
            <a:ext cx="2286000" cy="640080"/>
          </a:xfrm>
          <a:prstGeom prst="rect">
            <a:avLst/>
          </a:prstGeom>
          <a:noFill/>
          <a:ln/>
        </p:spPr>
        <p:txBody>
          <a:bodyPr wrap="square" lIns="0" tIns="0" rIns="0" bIns="0" rtlCol="0" anchor="ctr"/>
          <a:lstStyle/>
          <a:p>
            <a:pPr indent="0" marL="0">
              <a:buNone/>
            </a:pPr>
            <a:r>
              <a:rPr lang="en-US" sz="1800" b="1" dirty="0">
                <a:solidFill>
                  <a:schemeClr val="tx2"/>
                </a:solidFill>
              </a:rPr>
              <a:t>Validation des entrées</a:t>
            </a:r>
            <a:endParaRPr lang="en-US" sz="1800" dirty="0"/>
          </a:p>
        </p:txBody>
      </p:sp>
      <p:sp>
        <p:nvSpPr>
          <p:cNvPr id="22" name="Text 16"/>
          <p:cNvSpPr txBox="1"/>
          <p:nvPr/>
        </p:nvSpPr>
        <p:spPr>
          <a:xfrm>
            <a:off x="822960" y="4709160"/>
            <a:ext cx="2971800" cy="822960"/>
          </a:xfrm>
          <a:prstGeom prst="rect">
            <a:avLst/>
          </a:prstGeom>
          <a:noFill/>
          <a:ln/>
        </p:spPr>
        <p:txBody>
          <a:bodyPr wrap="square" lIns="0" tIns="0" rIns="0" bIns="0" rtlCol="0" anchor="t"/>
          <a:lstStyle/>
          <a:p>
            <a:pPr indent="0" marL="0">
              <a:buNone/>
            </a:pPr>
            <a:r>
              <a:rPr lang="en-US" sz="1400" dirty="0">
                <a:solidFill>
                  <a:schemeClr val="tx1"/>
                </a:solidFill>
              </a:rPr>
              <a:t>Toutes les données reçues sont revalidées</a:t>
            </a:r>
            <a:endParaRPr lang="en-US" sz="1400" dirty="0"/>
          </a:p>
        </p:txBody>
      </p:sp>
      <p:sp>
        <p:nvSpPr>
          <p:cNvPr id="23" name="sécurité Journal d'audit"/>
          <p:cNvSpPr/>
          <p:nvPr/>
        </p:nvSpPr>
        <p:spPr>
          <a:xfrm>
            <a:off x="4297680" y="3657600"/>
            <a:ext cx="3474720" cy="2011680"/>
          </a:xfrm>
          <a:prstGeom prst="roundRect">
            <a:avLst>
              <a:gd name="adj" fmla="val 5455"/>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24" name="Journal d'audit cercle"/>
          <p:cNvSpPr/>
          <p:nvPr/>
        </p:nvSpPr>
        <p:spPr>
          <a:xfrm>
            <a:off x="4572000" y="3931920"/>
            <a:ext cx="640080" cy="640080"/>
          </a:xfrm>
          <a:prstGeom prst="ellipse">
            <a:avLst/>
          </a:prstGeom>
          <a:solidFill>
            <a:srgbClr val="006F3C"/>
          </a:solidFill>
          <a:ln/>
        </p:spPr>
      </p:sp>
      <p:pic>
        <p:nvPicPr>
          <p:cNvPr id="25" name="Journal d'audit icône" descr="Journal d'audit">    </p:cNvPr>
          <p:cNvPicPr>
            <a:picLocks noChangeAspect="1"/>
          </p:cNvPicPr>
          <p:nvPr/>
        </p:nvPicPr>
        <p:blipFill>
          <a:blip r:embed="rId5"/>
          <a:stretch>
            <a:fillRect/>
          </a:stretch>
        </p:blipFill>
        <p:spPr>
          <a:xfrm>
            <a:off x="4732020" y="4091940"/>
            <a:ext cx="320040" cy="320040"/>
          </a:xfrm>
          <a:prstGeom prst="rect">
            <a:avLst/>
          </a:prstGeom>
        </p:spPr>
      </p:pic>
      <p:sp>
        <p:nvSpPr>
          <p:cNvPr id="26" name="Text 19"/>
          <p:cNvSpPr txBox="1"/>
          <p:nvPr/>
        </p:nvSpPr>
        <p:spPr>
          <a:xfrm>
            <a:off x="5349240" y="3931920"/>
            <a:ext cx="2286000" cy="640080"/>
          </a:xfrm>
          <a:prstGeom prst="rect">
            <a:avLst/>
          </a:prstGeom>
          <a:noFill/>
          <a:ln/>
        </p:spPr>
        <p:txBody>
          <a:bodyPr wrap="square" lIns="0" tIns="0" rIns="0" bIns="0" rtlCol="0" anchor="ctr"/>
          <a:lstStyle/>
          <a:p>
            <a:pPr indent="0" marL="0">
              <a:buNone/>
            </a:pPr>
            <a:r>
              <a:rPr lang="en-US" sz="1800" b="1" dirty="0">
                <a:solidFill>
                  <a:schemeClr val="tx2"/>
                </a:solidFill>
              </a:rPr>
              <a:t>Journal d'audit</a:t>
            </a:r>
            <a:endParaRPr lang="en-US" sz="1800" dirty="0"/>
          </a:p>
        </p:txBody>
      </p:sp>
      <p:sp>
        <p:nvSpPr>
          <p:cNvPr id="27" name="Text 20"/>
          <p:cNvSpPr txBox="1"/>
          <p:nvPr/>
        </p:nvSpPr>
        <p:spPr>
          <a:xfrm>
            <a:off x="4572000" y="4709160"/>
            <a:ext cx="2971800" cy="822960"/>
          </a:xfrm>
          <a:prstGeom prst="rect">
            <a:avLst/>
          </a:prstGeom>
          <a:noFill/>
          <a:ln/>
        </p:spPr>
        <p:txBody>
          <a:bodyPr wrap="square" lIns="0" tIns="0" rIns="0" bIns="0" rtlCol="0" anchor="t"/>
          <a:lstStyle/>
          <a:p>
            <a:pPr indent="0" marL="0">
              <a:buNone/>
            </a:pPr>
            <a:r>
              <a:rPr lang="en-US" sz="1400" dirty="0">
                <a:solidFill>
                  <a:schemeClr val="tx1"/>
                </a:solidFill>
              </a:rPr>
              <a:t>Connexions, publications, validations, exports</a:t>
            </a:r>
            <a:endParaRPr lang="en-US" sz="1400" dirty="0"/>
          </a:p>
        </p:txBody>
      </p:sp>
      <p:sp>
        <p:nvSpPr>
          <p:cNvPr id="28" name="sécurité Discrétion"/>
          <p:cNvSpPr/>
          <p:nvPr/>
        </p:nvSpPr>
        <p:spPr>
          <a:xfrm>
            <a:off x="8046720" y="3657600"/>
            <a:ext cx="3474720" cy="2011680"/>
          </a:xfrm>
          <a:prstGeom prst="roundRect">
            <a:avLst>
              <a:gd name="adj" fmla="val 5455"/>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sp>
        <p:nvSpPr>
          <p:cNvPr id="29" name="Discrétion cercle"/>
          <p:cNvSpPr/>
          <p:nvPr/>
        </p:nvSpPr>
        <p:spPr>
          <a:xfrm>
            <a:off x="8321040" y="3931920"/>
            <a:ext cx="640080" cy="640080"/>
          </a:xfrm>
          <a:prstGeom prst="ellipse">
            <a:avLst/>
          </a:prstGeom>
          <a:solidFill>
            <a:srgbClr val="006F3C"/>
          </a:solidFill>
          <a:ln/>
        </p:spPr>
      </p:sp>
      <p:pic>
        <p:nvPicPr>
          <p:cNvPr id="30" name="Discrétion icône" descr="Discrétion">    </p:cNvPr>
          <p:cNvPicPr>
            <a:picLocks noChangeAspect="1"/>
          </p:cNvPicPr>
          <p:nvPr/>
        </p:nvPicPr>
        <p:blipFill>
          <a:blip r:embed="rId6"/>
          <a:stretch>
            <a:fillRect/>
          </a:stretch>
        </p:blipFill>
        <p:spPr>
          <a:xfrm>
            <a:off x="8481060" y="4091940"/>
            <a:ext cx="320040" cy="320040"/>
          </a:xfrm>
          <a:prstGeom prst="rect">
            <a:avLst/>
          </a:prstGeom>
        </p:spPr>
      </p:pic>
      <p:sp>
        <p:nvSpPr>
          <p:cNvPr id="31" name="Text 23"/>
          <p:cNvSpPr txBox="1"/>
          <p:nvPr/>
        </p:nvSpPr>
        <p:spPr>
          <a:xfrm>
            <a:off x="9098280" y="3931920"/>
            <a:ext cx="2286000" cy="640080"/>
          </a:xfrm>
          <a:prstGeom prst="rect">
            <a:avLst/>
          </a:prstGeom>
          <a:noFill/>
          <a:ln/>
        </p:spPr>
        <p:txBody>
          <a:bodyPr wrap="square" lIns="0" tIns="0" rIns="0" bIns="0" rtlCol="0" anchor="ctr"/>
          <a:lstStyle/>
          <a:p>
            <a:pPr indent="0" marL="0">
              <a:buNone/>
            </a:pPr>
            <a:r>
              <a:rPr lang="en-US" sz="1800" b="1" dirty="0">
                <a:solidFill>
                  <a:schemeClr val="tx2"/>
                </a:solidFill>
              </a:rPr>
              <a:t>Discrétion</a:t>
            </a:r>
            <a:endParaRPr lang="en-US" sz="1800" dirty="0"/>
          </a:p>
        </p:txBody>
      </p:sp>
      <p:sp>
        <p:nvSpPr>
          <p:cNvPr id="32" name="Text 24"/>
          <p:cNvSpPr txBox="1"/>
          <p:nvPr/>
        </p:nvSpPr>
        <p:spPr>
          <a:xfrm>
            <a:off x="8321040" y="4709160"/>
            <a:ext cx="2971800" cy="822960"/>
          </a:xfrm>
          <a:prstGeom prst="rect">
            <a:avLst/>
          </a:prstGeom>
          <a:noFill/>
          <a:ln/>
        </p:spPr>
        <p:txBody>
          <a:bodyPr wrap="square" lIns="0" tIns="0" rIns="0" bIns="0" rtlCol="0" anchor="t"/>
          <a:lstStyle/>
          <a:p>
            <a:pPr indent="0" marL="0">
              <a:buNone/>
            </a:pPr>
            <a:r>
              <a:rPr lang="en-US" sz="1400" dirty="0">
                <a:solidFill>
                  <a:schemeClr val="tx1"/>
                </a:solidFill>
              </a:rPr>
              <a:t>Messages d'erreur génériques, aucun secret côté navigateur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Rapports et export CSV maîtrisés</a:t>
            </a:r>
            <a:endParaRPr lang="en-US" sz="3200" dirty="0"/>
          </a:p>
        </p:txBody>
      </p:sp>
      <p:sp>
        <p:nvSpPr>
          <p:cNvPr id="3" name="Rapport par formulaire cadre"/>
          <p:cNvSpPr/>
          <p:nvPr/>
        </p:nvSpPr>
        <p:spPr>
          <a:xfrm>
            <a:off x="548640" y="1371600"/>
            <a:ext cx="6766560" cy="4229100"/>
          </a:xfrm>
          <a:prstGeom prst="rect">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pic>
        <p:nvPicPr>
          <p:cNvPr id="4" name="Rapport par formulaire" descr="Rapport par formulaire">    </p:cNvPr>
          <p:cNvPicPr>
            <a:picLocks noChangeAspect="1"/>
          </p:cNvPicPr>
          <p:nvPr/>
        </p:nvPicPr>
        <p:blipFill>
          <a:blip r:embed="rId1"/>
          <a:stretch>
            <a:fillRect/>
          </a:stretch>
        </p:blipFill>
        <p:spPr>
          <a:xfrm>
            <a:off x="548640" y="1371600"/>
            <a:ext cx="6766560" cy="4229100"/>
          </a:xfrm>
          <a:prstGeom prst="rect">
            <a:avLst/>
          </a:prstGeom>
        </p:spPr>
      </p:pic>
      <p:sp>
        <p:nvSpPr>
          <p:cNvPr id="5" name="Text 2"/>
          <p:cNvSpPr txBox="1"/>
          <p:nvPr/>
        </p:nvSpPr>
        <p:spPr>
          <a:xfrm>
            <a:off x="7680960" y="1463040"/>
            <a:ext cx="3977640" cy="44805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Statistiques par question : moyenne, médiane, répartitions</a:t>
            </a:r>
            <a:endParaRPr lang="en-US" sz="1600" dirty="0"/>
          </a:p>
          <a:p>
            <a:pPr marL="228600" indent="-228600">
              <a:spcAft>
                <a:spcPts val="800"/>
              </a:spcAft>
              <a:buSzPct val="100000"/>
              <a:buChar char="•"/>
            </a:pPr>
            <a:r>
              <a:rPr lang="en-US" sz="1600" dirty="0">
                <a:solidFill>
                  <a:schemeClr val="tx1"/>
                </a:solidFill>
              </a:rPr>
              <a:t>Filtre par période, impression ou PDF</a:t>
            </a:r>
            <a:endParaRPr lang="en-US" sz="1600" dirty="0"/>
          </a:p>
          <a:p>
            <a:pPr marL="228600" indent="-228600">
              <a:spcAft>
                <a:spcPts val="800"/>
              </a:spcAft>
              <a:buSzPct val="100000"/>
              <a:buChar char="•"/>
            </a:pPr>
            <a:r>
              <a:rPr lang="en-US" sz="1600" dirty="0">
                <a:solidFill>
                  <a:schemeClr val="tx1"/>
                </a:solidFill>
              </a:rPr>
              <a:t>Recherche et filtres : formulaire, statut, période, anomalies</a:t>
            </a:r>
            <a:endParaRPr lang="en-US" sz="1600" dirty="0"/>
          </a:p>
          <a:p>
            <a:pPr marL="228600" indent="-228600">
              <a:spcAft>
                <a:spcPts val="800"/>
              </a:spcAft>
              <a:buSzPct val="100000"/>
              <a:buChar char="•"/>
            </a:pPr>
            <a:r>
              <a:rPr lang="en-US" sz="1600" dirty="0">
                <a:solidFill>
                  <a:schemeClr val="tx1"/>
                </a:solidFill>
              </a:rPr>
              <a:t>Export CSV limité aux données autorisées</a:t>
            </a:r>
            <a:endParaRPr lang="en-US" sz="1600" dirty="0"/>
          </a:p>
          <a:p>
            <a:pPr marL="228600" indent="-228600">
              <a:spcAft>
                <a:spcPts val="800"/>
              </a:spcAft>
              <a:buSzPct val="100000"/>
              <a:buChar char="•"/>
            </a:pPr>
            <a:r>
              <a:rPr lang="en-US" sz="1600" dirty="0">
                <a:solidFill>
                  <a:schemeClr val="tx1"/>
                </a:solidFill>
              </a:rPr>
              <a:t>Formules neutralisées dans les cellules, ouverture directe dans un tableur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Une interface en français et en arabe</a:t>
            </a:r>
            <a:endParaRPr lang="en-US" sz="3200" dirty="0"/>
          </a:p>
        </p:txBody>
      </p:sp>
      <p:sp>
        <p:nvSpPr>
          <p:cNvPr id="3" name="Interface en français cadre"/>
          <p:cNvSpPr/>
          <p:nvPr/>
        </p:nvSpPr>
        <p:spPr>
          <a:xfrm>
            <a:off x="548640" y="1325880"/>
            <a:ext cx="5440680" cy="3400425"/>
          </a:xfrm>
          <a:prstGeom prst="rect">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pic>
        <p:nvPicPr>
          <p:cNvPr id="4" name="Interface en français" descr="Interface en français">    </p:cNvPr>
          <p:cNvPicPr>
            <a:picLocks noChangeAspect="1"/>
          </p:cNvPicPr>
          <p:nvPr/>
        </p:nvPicPr>
        <p:blipFill>
          <a:blip r:embed="rId1"/>
          <a:stretch>
            <a:fillRect/>
          </a:stretch>
        </p:blipFill>
        <p:spPr>
          <a:xfrm>
            <a:off x="548640" y="1325880"/>
            <a:ext cx="5440680" cy="3400425"/>
          </a:xfrm>
          <a:prstGeom prst="rect">
            <a:avLst/>
          </a:prstGeom>
        </p:spPr>
      </p:pic>
      <p:sp>
        <p:nvSpPr>
          <p:cNvPr id="5" name="Interface en arabe cadre"/>
          <p:cNvSpPr/>
          <p:nvPr/>
        </p:nvSpPr>
        <p:spPr>
          <a:xfrm>
            <a:off x="6172200" y="1325880"/>
            <a:ext cx="5440680" cy="3400425"/>
          </a:xfrm>
          <a:prstGeom prst="rect">
            <a:avLst/>
          </a:prstGeom>
          <a:solidFill>
            <a:schemeClr val="bg1"/>
          </a:solidFill>
          <a:ln w="9525">
            <a:solidFill>
              <a:srgbClr val="DDE2EA"/>
            </a:solidFill>
            <a:prstDash val="solid"/>
          </a:ln>
          <a:effectLst>
            <a:outerShdw sx="100000" sy="100000" kx="0" ky="0" algn="bl" rotWithShape="0" blurRad="101600" dist="25400" dir="5400000">
              <a:srgbClr val="000000">
                <a:alpha val="18000"/>
              </a:srgbClr>
            </a:outerShdw>
          </a:effectLst>
        </p:spPr>
      </p:sp>
      <p:pic>
        <p:nvPicPr>
          <p:cNvPr id="6" name="Interface en arabe" descr="Interface en arabe">    </p:cNvPr>
          <p:cNvPicPr>
            <a:picLocks noChangeAspect="1"/>
          </p:cNvPicPr>
          <p:nvPr/>
        </p:nvPicPr>
        <p:blipFill>
          <a:blip r:embed="rId2"/>
          <a:stretch>
            <a:fillRect/>
          </a:stretch>
        </p:blipFill>
        <p:spPr>
          <a:xfrm>
            <a:off x="6172200" y="1325880"/>
            <a:ext cx="5440680" cy="3400425"/>
          </a:xfrm>
          <a:prstGeom prst="rect">
            <a:avLst/>
          </a:prstGeom>
        </p:spPr>
      </p:pic>
      <p:sp>
        <p:nvSpPr>
          <p:cNvPr id="7" name="Text 3"/>
          <p:cNvSpPr txBox="1"/>
          <p:nvPr/>
        </p:nvSpPr>
        <p:spPr>
          <a:xfrm>
            <a:off x="548640" y="4846320"/>
            <a:ext cx="5440680" cy="365760"/>
          </a:xfrm>
          <a:prstGeom prst="rect">
            <a:avLst/>
          </a:prstGeom>
          <a:noFill/>
          <a:ln/>
        </p:spPr>
        <p:txBody>
          <a:bodyPr wrap="square" lIns="0" tIns="0" rIns="0" bIns="0" rtlCol="0" anchor="t"/>
          <a:lstStyle/>
          <a:p>
            <a:pPr algn="ctr" indent="0" marL="0">
              <a:buNone/>
            </a:pPr>
            <a:r>
              <a:rPr lang="en-US" sz="1500" b="1" dirty="0">
                <a:solidFill>
                  <a:schemeClr val="tx2"/>
                </a:solidFill>
              </a:rPr>
              <a:t>Français</a:t>
            </a:r>
            <a:endParaRPr lang="en-US" sz="1500" dirty="0"/>
          </a:p>
        </p:txBody>
      </p:sp>
      <p:sp>
        <p:nvSpPr>
          <p:cNvPr id="8" name="Text 4"/>
          <p:cNvSpPr txBox="1"/>
          <p:nvPr/>
        </p:nvSpPr>
        <p:spPr>
          <a:xfrm>
            <a:off x="6172200" y="4846320"/>
            <a:ext cx="5440680" cy="365760"/>
          </a:xfrm>
          <a:prstGeom prst="rect">
            <a:avLst/>
          </a:prstGeom>
          <a:noFill/>
          <a:ln/>
        </p:spPr>
        <p:txBody>
          <a:bodyPr wrap="square" lIns="0" tIns="0" rIns="0" bIns="0" rtlCol="0" anchor="t"/>
          <a:lstStyle/>
          <a:p>
            <a:pPr algn="ctr" indent="0" marL="0">
              <a:buNone/>
            </a:pPr>
            <a:r>
              <a:rPr lang="en-US" sz="1500" b="1" dirty="0">
                <a:solidFill>
                  <a:schemeClr val="tx2"/>
                </a:solidFill>
              </a:rPr>
              <a:t>العربية — de droite à gauche</a:t>
            </a:r>
            <a:endParaRPr lang="en-US" sz="1500" dirty="0"/>
          </a:p>
        </p:txBody>
      </p:sp>
      <p:sp>
        <p:nvSpPr>
          <p:cNvPr id="9" name="Text 5"/>
          <p:cNvSpPr txBox="1"/>
          <p:nvPr/>
        </p:nvSpPr>
        <p:spPr>
          <a:xfrm>
            <a:off x="548640" y="5349240"/>
            <a:ext cx="11064240" cy="731520"/>
          </a:xfrm>
          <a:prstGeom prst="rect">
            <a:avLst/>
          </a:prstGeom>
          <a:noFill/>
          <a:ln/>
        </p:spPr>
        <p:txBody>
          <a:bodyPr wrap="square" lIns="0" tIns="0" rIns="0" bIns="0" rtlCol="0" anchor="t"/>
          <a:lstStyle/>
          <a:p>
            <a:pPr algn="ctr" indent="0" marL="0">
              <a:buNone/>
            </a:pPr>
            <a:r>
              <a:rPr lang="en-US" sz="1500" dirty="0">
                <a:solidFill>
                  <a:schemeClr val="accent6"/>
                </a:solidFill>
              </a:rPr>
              <a:t>Bascule en un clic, mémorisée. Menus, messages d'erreur et de qualité traduits ; le contenu saisi reste dans sa langue d'origine.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Un prototype réellement fonctionnel et testé</a:t>
            </a:r>
            <a:endParaRPr lang="en-US" sz="3200" dirty="0"/>
          </a:p>
        </p:txBody>
      </p:sp>
      <p:sp>
        <p:nvSpPr>
          <p:cNvPr id="3" name="statistique tests unitaires"/>
          <p:cNvSpPr/>
          <p:nvPr/>
        </p:nvSpPr>
        <p:spPr>
          <a:xfrm>
            <a:off x="548640" y="1463040"/>
            <a:ext cx="3474720" cy="2743200"/>
          </a:xfrm>
          <a:prstGeom prst="roundRect">
            <a:avLst>
              <a:gd name="adj" fmla="val 4000"/>
            </a:avLst>
          </a:prstGeom>
          <a:solidFill>
            <a:schemeClr val="bg2"/>
          </a:solidFill>
          <a:ln/>
        </p:spPr>
      </p:sp>
      <p:sp>
        <p:nvSpPr>
          <p:cNvPr id="4" name="Text 2"/>
          <p:cNvSpPr txBox="1"/>
          <p:nvPr/>
        </p:nvSpPr>
        <p:spPr>
          <a:xfrm>
            <a:off x="548640" y="1737360"/>
            <a:ext cx="3474720" cy="1005840"/>
          </a:xfrm>
          <a:prstGeom prst="rect">
            <a:avLst/>
          </a:prstGeom>
          <a:noFill/>
          <a:ln/>
        </p:spPr>
        <p:txBody>
          <a:bodyPr wrap="square" lIns="0" tIns="0" rIns="0" bIns="0" rtlCol="0" anchor="t"/>
          <a:lstStyle/>
          <a:p>
            <a:pPr algn="ctr" indent="0" marL="0">
              <a:buNone/>
            </a:pPr>
            <a:r>
              <a:rPr lang="en-US" sz="6000" b="1" dirty="0">
                <a:solidFill>
                  <a:schemeClr val="accent1"/>
                </a:solidFill>
                <a:latin typeface="Cambria" pitchFamily="34" charset="0"/>
                <a:ea typeface="Cambria" pitchFamily="34" charset="-122"/>
                <a:cs typeface="Cambria" pitchFamily="34" charset="-120"/>
              </a:rPr>
              <a:t>65</a:t>
            </a:r>
            <a:endParaRPr lang="en-US" sz="6000" dirty="0"/>
          </a:p>
        </p:txBody>
      </p:sp>
      <p:sp>
        <p:nvSpPr>
          <p:cNvPr id="5" name="Text 3"/>
          <p:cNvSpPr txBox="1"/>
          <p:nvPr/>
        </p:nvSpPr>
        <p:spPr>
          <a:xfrm>
            <a:off x="548640" y="2788920"/>
            <a:ext cx="3474720" cy="411480"/>
          </a:xfrm>
          <a:prstGeom prst="rect">
            <a:avLst/>
          </a:prstGeom>
          <a:noFill/>
          <a:ln/>
        </p:spPr>
        <p:txBody>
          <a:bodyPr wrap="square" lIns="0" tIns="0" rIns="0" bIns="0" rtlCol="0" anchor="t"/>
          <a:lstStyle/>
          <a:p>
            <a:pPr algn="ctr" indent="0" marL="0">
              <a:buNone/>
            </a:pPr>
            <a:r>
              <a:rPr lang="en-US" sz="1800" b="1" dirty="0">
                <a:solidFill>
                  <a:schemeClr val="tx2"/>
                </a:solidFill>
              </a:rPr>
              <a:t>tests unitaires</a:t>
            </a:r>
            <a:endParaRPr lang="en-US" sz="1800" dirty="0"/>
          </a:p>
        </p:txBody>
      </p:sp>
      <p:sp>
        <p:nvSpPr>
          <p:cNvPr id="6" name="Text 4"/>
          <p:cNvSpPr txBox="1"/>
          <p:nvPr/>
        </p:nvSpPr>
        <p:spPr>
          <a:xfrm>
            <a:off x="822960" y="3291840"/>
            <a:ext cx="2926080" cy="731520"/>
          </a:xfrm>
          <a:prstGeom prst="rect">
            <a:avLst/>
          </a:prstGeom>
          <a:noFill/>
          <a:ln/>
        </p:spPr>
        <p:txBody>
          <a:bodyPr wrap="square" lIns="0" tIns="0" rIns="0" bIns="0" rtlCol="0" anchor="t"/>
          <a:lstStyle/>
          <a:p>
            <a:pPr algn="ctr" indent="0" marL="0">
              <a:buNone/>
            </a:pPr>
            <a:r>
              <a:rPr lang="en-US" sz="1400" dirty="0">
                <a:solidFill>
                  <a:schemeClr val="accent6"/>
                </a:solidFill>
              </a:rPr>
              <a:t>validation, qualité, CSV, permissions, traductions</a:t>
            </a:r>
            <a:endParaRPr lang="en-US" sz="1400" dirty="0"/>
          </a:p>
        </p:txBody>
      </p:sp>
      <p:sp>
        <p:nvSpPr>
          <p:cNvPr id="7" name="statistique tests d'intégration"/>
          <p:cNvSpPr/>
          <p:nvPr/>
        </p:nvSpPr>
        <p:spPr>
          <a:xfrm>
            <a:off x="4297680" y="1463040"/>
            <a:ext cx="3474720" cy="2743200"/>
          </a:xfrm>
          <a:prstGeom prst="roundRect">
            <a:avLst>
              <a:gd name="adj" fmla="val 4000"/>
            </a:avLst>
          </a:prstGeom>
          <a:solidFill>
            <a:schemeClr val="bg2"/>
          </a:solidFill>
          <a:ln/>
        </p:spPr>
      </p:sp>
      <p:sp>
        <p:nvSpPr>
          <p:cNvPr id="8" name="Text 6"/>
          <p:cNvSpPr txBox="1"/>
          <p:nvPr/>
        </p:nvSpPr>
        <p:spPr>
          <a:xfrm>
            <a:off x="4297680" y="1737360"/>
            <a:ext cx="3474720" cy="1005840"/>
          </a:xfrm>
          <a:prstGeom prst="rect">
            <a:avLst/>
          </a:prstGeom>
          <a:noFill/>
          <a:ln/>
        </p:spPr>
        <p:txBody>
          <a:bodyPr wrap="square" lIns="0" tIns="0" rIns="0" bIns="0" rtlCol="0" anchor="t"/>
          <a:lstStyle/>
          <a:p>
            <a:pPr algn="ctr" indent="0" marL="0">
              <a:buNone/>
            </a:pPr>
            <a:r>
              <a:rPr lang="en-US" sz="6000" b="1" dirty="0">
                <a:solidFill>
                  <a:schemeClr val="accent1"/>
                </a:solidFill>
                <a:latin typeface="Cambria" pitchFamily="34" charset="0"/>
                <a:ea typeface="Cambria" pitchFamily="34" charset="-122"/>
                <a:cs typeface="Cambria" pitchFamily="34" charset="-120"/>
              </a:rPr>
              <a:t>24</a:t>
            </a:r>
            <a:endParaRPr lang="en-US" sz="6000" dirty="0"/>
          </a:p>
        </p:txBody>
      </p:sp>
      <p:sp>
        <p:nvSpPr>
          <p:cNvPr id="9" name="Text 7"/>
          <p:cNvSpPr txBox="1"/>
          <p:nvPr/>
        </p:nvSpPr>
        <p:spPr>
          <a:xfrm>
            <a:off x="4297680" y="2788920"/>
            <a:ext cx="3474720" cy="411480"/>
          </a:xfrm>
          <a:prstGeom prst="rect">
            <a:avLst/>
          </a:prstGeom>
          <a:noFill/>
          <a:ln/>
        </p:spPr>
        <p:txBody>
          <a:bodyPr wrap="square" lIns="0" tIns="0" rIns="0" bIns="0" rtlCol="0" anchor="t"/>
          <a:lstStyle/>
          <a:p>
            <a:pPr algn="ctr" indent="0" marL="0">
              <a:buNone/>
            </a:pPr>
            <a:r>
              <a:rPr lang="en-US" sz="1800" b="1" dirty="0">
                <a:solidFill>
                  <a:schemeClr val="tx2"/>
                </a:solidFill>
              </a:rPr>
              <a:t>tests d'intégration</a:t>
            </a:r>
            <a:endParaRPr lang="en-US" sz="1800" dirty="0"/>
          </a:p>
        </p:txBody>
      </p:sp>
      <p:sp>
        <p:nvSpPr>
          <p:cNvPr id="10" name="Text 8"/>
          <p:cNvSpPr txBox="1"/>
          <p:nvPr/>
        </p:nvSpPr>
        <p:spPr>
          <a:xfrm>
            <a:off x="4572000" y="3291840"/>
            <a:ext cx="2926080" cy="731520"/>
          </a:xfrm>
          <a:prstGeom prst="rect">
            <a:avLst/>
          </a:prstGeom>
          <a:noFill/>
          <a:ln/>
        </p:spPr>
        <p:txBody>
          <a:bodyPr wrap="square" lIns="0" tIns="0" rIns="0" bIns="0" rtlCol="0" anchor="t"/>
          <a:lstStyle/>
          <a:p>
            <a:pPr algn="ctr" indent="0" marL="0">
              <a:buNone/>
            </a:pPr>
            <a:r>
              <a:rPr lang="en-US" sz="1400" dirty="0">
                <a:solidFill>
                  <a:schemeClr val="accent6"/>
                </a:solidFill>
              </a:rPr>
              <a:t>sur une vraie base PostgreSQL</a:t>
            </a:r>
            <a:endParaRPr lang="en-US" sz="1400" dirty="0"/>
          </a:p>
        </p:txBody>
      </p:sp>
      <p:sp>
        <p:nvSpPr>
          <p:cNvPr id="11" name="statistique tests de parcours"/>
          <p:cNvSpPr/>
          <p:nvPr/>
        </p:nvSpPr>
        <p:spPr>
          <a:xfrm>
            <a:off x="8046720" y="1463040"/>
            <a:ext cx="3474720" cy="2743200"/>
          </a:xfrm>
          <a:prstGeom prst="roundRect">
            <a:avLst>
              <a:gd name="adj" fmla="val 4000"/>
            </a:avLst>
          </a:prstGeom>
          <a:solidFill>
            <a:schemeClr val="bg2"/>
          </a:solidFill>
          <a:ln/>
        </p:spPr>
      </p:sp>
      <p:sp>
        <p:nvSpPr>
          <p:cNvPr id="12" name="Text 10"/>
          <p:cNvSpPr txBox="1"/>
          <p:nvPr/>
        </p:nvSpPr>
        <p:spPr>
          <a:xfrm>
            <a:off x="8046720" y="1737360"/>
            <a:ext cx="3474720" cy="1005840"/>
          </a:xfrm>
          <a:prstGeom prst="rect">
            <a:avLst/>
          </a:prstGeom>
          <a:noFill/>
          <a:ln/>
        </p:spPr>
        <p:txBody>
          <a:bodyPr wrap="square" lIns="0" tIns="0" rIns="0" bIns="0" rtlCol="0" anchor="t"/>
          <a:lstStyle/>
          <a:p>
            <a:pPr algn="ctr" indent="0" marL="0">
              <a:buNone/>
            </a:pPr>
            <a:r>
              <a:rPr lang="en-US" sz="6000" b="1" dirty="0">
                <a:solidFill>
                  <a:schemeClr val="accent1"/>
                </a:solidFill>
                <a:latin typeface="Cambria" pitchFamily="34" charset="0"/>
                <a:ea typeface="Cambria" pitchFamily="34" charset="-122"/>
                <a:cs typeface="Cambria" pitchFamily="34" charset="-120"/>
              </a:rPr>
              <a:t>19</a:t>
            </a:r>
            <a:endParaRPr lang="en-US" sz="6000" dirty="0"/>
          </a:p>
        </p:txBody>
      </p:sp>
      <p:sp>
        <p:nvSpPr>
          <p:cNvPr id="13" name="Text 11"/>
          <p:cNvSpPr txBox="1"/>
          <p:nvPr/>
        </p:nvSpPr>
        <p:spPr>
          <a:xfrm>
            <a:off x="8046720" y="2788920"/>
            <a:ext cx="3474720" cy="411480"/>
          </a:xfrm>
          <a:prstGeom prst="rect">
            <a:avLst/>
          </a:prstGeom>
          <a:noFill/>
          <a:ln/>
        </p:spPr>
        <p:txBody>
          <a:bodyPr wrap="square" lIns="0" tIns="0" rIns="0" bIns="0" rtlCol="0" anchor="t"/>
          <a:lstStyle/>
          <a:p>
            <a:pPr algn="ctr" indent="0" marL="0">
              <a:buNone/>
            </a:pPr>
            <a:r>
              <a:rPr lang="en-US" sz="1800" b="1" dirty="0">
                <a:solidFill>
                  <a:schemeClr val="tx2"/>
                </a:solidFill>
              </a:rPr>
              <a:t>tests de parcours</a:t>
            </a:r>
            <a:endParaRPr lang="en-US" sz="1800" dirty="0"/>
          </a:p>
        </p:txBody>
      </p:sp>
      <p:sp>
        <p:nvSpPr>
          <p:cNvPr id="14" name="Text 12"/>
          <p:cNvSpPr txBox="1"/>
          <p:nvPr/>
        </p:nvSpPr>
        <p:spPr>
          <a:xfrm>
            <a:off x="8321040" y="3291840"/>
            <a:ext cx="2926080" cy="731520"/>
          </a:xfrm>
          <a:prstGeom prst="rect">
            <a:avLst/>
          </a:prstGeom>
          <a:noFill/>
          <a:ln/>
        </p:spPr>
        <p:txBody>
          <a:bodyPr wrap="square" lIns="0" tIns="0" rIns="0" bIns="0" rtlCol="0" anchor="t"/>
          <a:lstStyle/>
          <a:p>
            <a:pPr algn="ctr" indent="0" marL="0">
              <a:buNone/>
            </a:pPr>
            <a:r>
              <a:rPr lang="en-US" sz="1400" dirty="0">
                <a:solidFill>
                  <a:schemeClr val="accent6"/>
                </a:solidFill>
              </a:rPr>
              <a:t>navigateur, ordinateur et mobile, de la connexion à l'export</a:t>
            </a:r>
            <a:endParaRPr lang="en-US" sz="1400" dirty="0"/>
          </a:p>
        </p:txBody>
      </p:sp>
      <p:sp>
        <p:nvSpPr>
          <p:cNvPr id="15" name="technologies cercle"/>
          <p:cNvSpPr/>
          <p:nvPr/>
        </p:nvSpPr>
        <p:spPr>
          <a:xfrm>
            <a:off x="548640" y="4846320"/>
            <a:ext cx="640080" cy="640080"/>
          </a:xfrm>
          <a:prstGeom prst="ellipse">
            <a:avLst/>
          </a:prstGeom>
          <a:solidFill>
            <a:srgbClr val="006F3C"/>
          </a:solidFill>
          <a:ln/>
        </p:spPr>
      </p:sp>
      <p:pic>
        <p:nvPicPr>
          <p:cNvPr id="16" name="technologies icône" descr="technologies">    </p:cNvPr>
          <p:cNvPicPr>
            <a:picLocks noChangeAspect="1"/>
          </p:cNvPicPr>
          <p:nvPr/>
        </p:nvPicPr>
        <p:blipFill>
          <a:blip r:embed="rId1"/>
          <a:stretch>
            <a:fillRect/>
          </a:stretch>
        </p:blipFill>
        <p:spPr>
          <a:xfrm>
            <a:off x="708660" y="5006340"/>
            <a:ext cx="320040" cy="320040"/>
          </a:xfrm>
          <a:prstGeom prst="rect">
            <a:avLst/>
          </a:prstGeom>
        </p:spPr>
      </p:pic>
      <p:sp>
        <p:nvSpPr>
          <p:cNvPr id="17" name="Text 14"/>
          <p:cNvSpPr txBox="1"/>
          <p:nvPr/>
        </p:nvSpPr>
        <p:spPr>
          <a:xfrm>
            <a:off x="1371600" y="4754880"/>
            <a:ext cx="10241280" cy="868680"/>
          </a:xfrm>
          <a:prstGeom prst="rect">
            <a:avLst/>
          </a:prstGeom>
          <a:noFill/>
          <a:ln/>
        </p:spPr>
        <p:txBody>
          <a:bodyPr wrap="square" lIns="0" tIns="0" rIns="0" bIns="0" rtlCol="0" anchor="ctr"/>
          <a:lstStyle/>
          <a:p>
            <a:pPr indent="0" marL="0">
              <a:buNone/>
            </a:pPr>
            <a:r>
              <a:rPr lang="en-US" sz="1500" b="1" dirty="0">
                <a:solidFill>
                  <a:schemeClr val="tx2"/>
                </a:solidFill>
              </a:rPr>
              <a:t>Technologies : </a:t>
            </a:r>
            <a:pPr indent="0" marL="0">
              <a:buNone/>
            </a:pPr>
            <a:r>
              <a:rPr lang="en-US" sz="1500" dirty="0">
                <a:solidFill>
                  <a:schemeClr val="tx1"/>
                </a:solidFill>
              </a:rPr>
              <a:t>Next.js 16, React 19, TypeScript, Tailwind CSS, PostgreSQL 16, Prisma 7, Vitest, Playwright. Versions figées, code source sur GitHub, sauvegarde et restauration documentées.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Limites actuelles et prochaines étapes</a:t>
            </a:r>
            <a:endParaRPr lang="en-US" sz="3200" dirty="0"/>
          </a:p>
        </p:txBody>
      </p:sp>
      <p:sp>
        <p:nvSpPr>
          <p:cNvPr id="3" name="Limites actuelles"/>
          <p:cNvSpPr/>
          <p:nvPr/>
        </p:nvSpPr>
        <p:spPr>
          <a:xfrm>
            <a:off x="548640" y="1417320"/>
            <a:ext cx="5394960" cy="4206240"/>
          </a:xfrm>
          <a:prstGeom prst="roundRect">
            <a:avLst>
              <a:gd name="adj" fmla="val 2609"/>
            </a:avLst>
          </a:prstGeom>
          <a:solidFill>
            <a:schemeClr val="bg1"/>
          </a:solidFill>
          <a:ln w="9525">
            <a:solidFill>
              <a:srgbClr val="DDE2EA"/>
            </a:solidFill>
            <a:prstDash val="solid"/>
          </a:ln>
        </p:spPr>
      </p:sp>
      <p:sp>
        <p:nvSpPr>
          <p:cNvPr id="4" name="Limites actuelles cercle"/>
          <p:cNvSpPr/>
          <p:nvPr/>
        </p:nvSpPr>
        <p:spPr>
          <a:xfrm>
            <a:off x="868680" y="1691640"/>
            <a:ext cx="685800" cy="685800"/>
          </a:xfrm>
          <a:prstGeom prst="ellipse">
            <a:avLst/>
          </a:prstGeom>
          <a:solidFill>
            <a:srgbClr val="D99A00"/>
          </a:solidFill>
          <a:ln/>
        </p:spPr>
      </p:sp>
      <p:pic>
        <p:nvPicPr>
          <p:cNvPr id="5" name="Limites actuelles icône" descr="Limites actuelles">    </p:cNvPr>
          <p:cNvPicPr>
            <a:picLocks noChangeAspect="1"/>
          </p:cNvPicPr>
          <p:nvPr/>
        </p:nvPicPr>
        <p:blipFill>
          <a:blip r:embed="rId1"/>
          <a:stretch>
            <a:fillRect/>
          </a:stretch>
        </p:blipFill>
        <p:spPr>
          <a:xfrm>
            <a:off x="1040130" y="1863090"/>
            <a:ext cx="342900" cy="342900"/>
          </a:xfrm>
          <a:prstGeom prst="rect">
            <a:avLst/>
          </a:prstGeom>
        </p:spPr>
      </p:pic>
      <p:sp>
        <p:nvSpPr>
          <p:cNvPr id="6" name="Text 3"/>
          <p:cNvSpPr txBox="1"/>
          <p:nvPr/>
        </p:nvSpPr>
        <p:spPr>
          <a:xfrm>
            <a:off x="1737360" y="1737360"/>
            <a:ext cx="4023360" cy="594360"/>
          </a:xfrm>
          <a:prstGeom prst="rect">
            <a:avLst/>
          </a:prstGeom>
          <a:noFill/>
          <a:ln/>
        </p:spPr>
        <p:txBody>
          <a:bodyPr wrap="square" lIns="0" tIns="0" rIns="0" bIns="0" rtlCol="0" anchor="ctr"/>
          <a:lstStyle/>
          <a:p>
            <a:pPr indent="0" marL="0">
              <a:buNone/>
            </a:pPr>
            <a:r>
              <a:rPr lang="en-US" sz="2200" b="1" dirty="0">
                <a:solidFill>
                  <a:schemeClr val="tx2"/>
                </a:solidFill>
              </a:rPr>
              <a:t>Limites actuelles</a:t>
            </a:r>
            <a:endParaRPr lang="en-US" sz="2200" dirty="0"/>
          </a:p>
        </p:txBody>
      </p:sp>
      <p:sp>
        <p:nvSpPr>
          <p:cNvPr id="7" name="Text 4"/>
          <p:cNvSpPr txBox="1"/>
          <p:nvPr/>
        </p:nvSpPr>
        <p:spPr>
          <a:xfrm>
            <a:off x="914400" y="2697480"/>
            <a:ext cx="4754880" cy="27432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Périmètre générique, sans les TDR</a:t>
            </a:r>
            <a:endParaRPr lang="en-US" sz="1800" dirty="0"/>
          </a:p>
          <a:p>
            <a:pPr marL="228600" indent="-228600">
              <a:spcAft>
                <a:spcPts val="800"/>
              </a:spcAft>
              <a:buSzPct val="100000"/>
              <a:buChar char="•"/>
            </a:pPr>
            <a:r>
              <a:rPr lang="en-US" sz="1800" dirty="0">
                <a:solidFill>
                  <a:schemeClr val="tx1"/>
                </a:solidFill>
              </a:rPr>
              <a:t>Pas de saisie hors ligne ni d'application mobile native</a:t>
            </a:r>
            <a:endParaRPr lang="en-US" sz="1800" dirty="0"/>
          </a:p>
          <a:p>
            <a:pPr marL="228600" indent="-228600">
              <a:spcAft>
                <a:spcPts val="800"/>
              </a:spcAft>
              <a:buSzPct val="100000"/>
              <a:buChar char="•"/>
            </a:pPr>
            <a:r>
              <a:rPr lang="en-US" sz="1800" dirty="0">
                <a:solidFill>
                  <a:schemeClr val="tx1"/>
                </a:solidFill>
              </a:rPr>
              <a:t>Pas d'affichage conditionnel des questions</a:t>
            </a:r>
            <a:endParaRPr lang="en-US" sz="1800" dirty="0"/>
          </a:p>
          <a:p>
            <a:pPr marL="228600" indent="-228600">
              <a:spcAft>
                <a:spcPts val="800"/>
              </a:spcAft>
              <a:buSzPct val="100000"/>
              <a:buChar char="•"/>
            </a:pPr>
            <a:r>
              <a:rPr lang="en-US" sz="1800" dirty="0">
                <a:solidFill>
                  <a:schemeClr val="tx1"/>
                </a:solidFill>
              </a:rPr>
              <a:t>Doublons par égalité exacte (pas approximative)</a:t>
            </a:r>
            <a:endParaRPr lang="en-US" sz="1800" dirty="0"/>
          </a:p>
          <a:p>
            <a:pPr marL="228600" indent="-228600">
              <a:spcAft>
                <a:spcPts val="800"/>
              </a:spcAft>
              <a:buSzPct val="100000"/>
              <a:buChar char="•"/>
            </a:pPr>
            <a:r>
              <a:rPr lang="en-US" sz="1800" dirty="0">
                <a:solidFill>
                  <a:schemeClr val="tx1"/>
                </a:solidFill>
              </a:rPr>
              <a:t>Aucun audit de sécurité ni d'accessibilité à ce stade</a:t>
            </a:r>
            <a:endParaRPr lang="en-US" sz="1800" dirty="0"/>
          </a:p>
        </p:txBody>
      </p:sp>
      <p:sp>
        <p:nvSpPr>
          <p:cNvPr id="8" name="Prochaines étapes"/>
          <p:cNvSpPr/>
          <p:nvPr/>
        </p:nvSpPr>
        <p:spPr>
          <a:xfrm>
            <a:off x="6217920" y="1417320"/>
            <a:ext cx="5394960" cy="4206240"/>
          </a:xfrm>
          <a:prstGeom prst="roundRect">
            <a:avLst>
              <a:gd name="adj" fmla="val 2609"/>
            </a:avLst>
          </a:prstGeom>
          <a:solidFill>
            <a:schemeClr val="bg2"/>
          </a:solidFill>
          <a:ln w="9525">
            <a:solidFill>
              <a:srgbClr val="DDE2EA"/>
            </a:solidFill>
            <a:prstDash val="solid"/>
          </a:ln>
        </p:spPr>
      </p:sp>
      <p:sp>
        <p:nvSpPr>
          <p:cNvPr id="9" name="Prochaines étapes cercle"/>
          <p:cNvSpPr/>
          <p:nvPr/>
        </p:nvSpPr>
        <p:spPr>
          <a:xfrm>
            <a:off x="6537960" y="1691640"/>
            <a:ext cx="685800" cy="685800"/>
          </a:xfrm>
          <a:prstGeom prst="ellipse">
            <a:avLst/>
          </a:prstGeom>
          <a:solidFill>
            <a:srgbClr val="006F3C"/>
          </a:solidFill>
          <a:ln/>
        </p:spPr>
      </p:sp>
      <p:pic>
        <p:nvPicPr>
          <p:cNvPr id="10" name="Prochaines étapes icône" descr="Prochaines étapes">    </p:cNvPr>
          <p:cNvPicPr>
            <a:picLocks noChangeAspect="1"/>
          </p:cNvPicPr>
          <p:nvPr/>
        </p:nvPicPr>
        <p:blipFill>
          <a:blip r:embed="rId2"/>
          <a:stretch>
            <a:fillRect/>
          </a:stretch>
        </p:blipFill>
        <p:spPr>
          <a:xfrm>
            <a:off x="6709410" y="1863090"/>
            <a:ext cx="342900" cy="342900"/>
          </a:xfrm>
          <a:prstGeom prst="rect">
            <a:avLst/>
          </a:prstGeom>
        </p:spPr>
      </p:pic>
      <p:sp>
        <p:nvSpPr>
          <p:cNvPr id="11" name="Text 7"/>
          <p:cNvSpPr txBox="1"/>
          <p:nvPr/>
        </p:nvSpPr>
        <p:spPr>
          <a:xfrm>
            <a:off x="7406640" y="1737360"/>
            <a:ext cx="4023360" cy="594360"/>
          </a:xfrm>
          <a:prstGeom prst="rect">
            <a:avLst/>
          </a:prstGeom>
          <a:noFill/>
          <a:ln/>
        </p:spPr>
        <p:txBody>
          <a:bodyPr wrap="square" lIns="0" tIns="0" rIns="0" bIns="0" rtlCol="0" anchor="ctr"/>
          <a:lstStyle/>
          <a:p>
            <a:pPr indent="0" marL="0">
              <a:buNone/>
            </a:pPr>
            <a:r>
              <a:rPr lang="en-US" sz="2200" b="1" dirty="0">
                <a:solidFill>
                  <a:schemeClr val="tx2"/>
                </a:solidFill>
              </a:rPr>
              <a:t>Prochaines étapes</a:t>
            </a:r>
            <a:endParaRPr lang="en-US" sz="2200" dirty="0"/>
          </a:p>
        </p:txBody>
      </p:sp>
      <p:sp>
        <p:nvSpPr>
          <p:cNvPr id="12" name="Text 8"/>
          <p:cNvSpPr txBox="1"/>
          <p:nvPr/>
        </p:nvSpPr>
        <p:spPr>
          <a:xfrm>
            <a:off x="6583680" y="2697480"/>
            <a:ext cx="4754880" cy="27432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Aligner les modules sur les TDR</a:t>
            </a:r>
            <a:endParaRPr lang="en-US" sz="1800" dirty="0"/>
          </a:p>
          <a:p>
            <a:pPr marL="228600" indent="-228600">
              <a:spcAft>
                <a:spcPts val="800"/>
              </a:spcAft>
              <a:buSzPct val="100000"/>
              <a:buChar char="•"/>
            </a:pPr>
            <a:r>
              <a:rPr lang="en-US" sz="1800" dirty="0">
                <a:solidFill>
                  <a:schemeClr val="tx1"/>
                </a:solidFill>
              </a:rPr>
              <a:t>Mode hors ligne pour le terrain</a:t>
            </a:r>
            <a:endParaRPr lang="en-US" sz="1800" dirty="0"/>
          </a:p>
          <a:p>
            <a:pPr marL="228600" indent="-228600">
              <a:spcAft>
                <a:spcPts val="800"/>
              </a:spcAft>
              <a:buSzPct val="100000"/>
              <a:buChar char="•"/>
            </a:pPr>
            <a:r>
              <a:rPr lang="en-US" sz="1800" dirty="0">
                <a:solidFill>
                  <a:schemeClr val="tx1"/>
                </a:solidFill>
              </a:rPr>
              <a:t>Découpage géographique des droits</a:t>
            </a:r>
            <a:endParaRPr lang="en-US" sz="1800" dirty="0"/>
          </a:p>
          <a:p>
            <a:pPr marL="228600" indent="-228600">
              <a:spcAft>
                <a:spcPts val="800"/>
              </a:spcAft>
              <a:buSzPct val="100000"/>
              <a:buChar char="•"/>
            </a:pPr>
            <a:r>
              <a:rPr lang="en-US" sz="1800" dirty="0">
                <a:solidFill>
                  <a:schemeClr val="tx1"/>
                </a:solidFill>
              </a:rPr>
              <a:t>Audit de sécurité et d'accessibilité (RGAA)</a:t>
            </a:r>
            <a:endParaRPr lang="en-US" sz="1800" dirty="0"/>
          </a:p>
          <a:p>
            <a:pPr marL="228600" indent="-228600">
              <a:spcAft>
                <a:spcPts val="800"/>
              </a:spcAft>
              <a:buSzPct val="100000"/>
              <a:buChar char="•"/>
            </a:pPr>
            <a:r>
              <a:rPr lang="en-US" sz="1800" dirty="0">
                <a:solidFill>
                  <a:schemeClr val="tx1"/>
                </a:solidFill>
              </a:rPr>
              <a:t>Pilote avec des agents sur un formulaire réel</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7315200" cy="914400"/>
          </a:xfrm>
          <a:prstGeom prst="rect">
            <a:avLst/>
          </a:prstGeom>
          <a:noFill/>
          <a:ln/>
        </p:spPr>
        <p:txBody>
          <a:bodyPr wrap="square" lIns="0" tIns="0" rIns="0" bIns="0" rtlCol="0"/>
          <a:lstStyle/>
          <a:p>
            <a:pPr algn="l" indent="0" marL="0">
              <a:buNone/>
            </a:pPr>
            <a:r>
              <a:rPr lang="en-US" sz="4000" b="1" dirty="0">
                <a:solidFill>
                  <a:schemeClr val="bg1"/>
                </a:solidFill>
              </a:rPr>
              <a:t>Essayer le prototype</a:t>
            </a:r>
            <a:endParaRPr lang="en-US" sz="4000" dirty="0"/>
          </a:p>
        </p:txBody>
      </p:sp>
      <p:sp>
        <p:nvSpPr>
          <p:cNvPr id="3" name="Text 1"/>
          <p:cNvSpPr txBox="1"/>
          <p:nvPr/>
        </p:nvSpPr>
        <p:spPr>
          <a:xfrm>
            <a:off x="640080" y="1600200"/>
            <a:ext cx="6400800" cy="457200"/>
          </a:xfrm>
          <a:prstGeom prst="rect">
            <a:avLst/>
          </a:prstGeom>
          <a:noFill/>
          <a:ln/>
        </p:spPr>
        <p:txBody>
          <a:bodyPr wrap="square" lIns="0" tIns="0" rIns="0" bIns="0" rtlCol="0" anchor="t"/>
          <a:lstStyle/>
          <a:p>
            <a:pPr indent="0" marL="0">
              <a:buNone/>
            </a:pPr>
            <a:r>
              <a:rPr lang="en-US" sz="1800" dirty="0">
                <a:solidFill>
                  <a:srgbClr val="FFC400"/>
                </a:solidFill>
              </a:rPr>
              <a:t>Comptes de démonstration (mot de passe : Demo-Registre-2026)</a:t>
            </a:r>
            <a:endParaRPr lang="en-US" sz="1800" dirty="0"/>
          </a:p>
        </p:txBody>
      </p:sp>
      <p:sp>
        <p:nvSpPr>
          <p:cNvPr id="4" name="Administrateur : toute l'application cercle"/>
          <p:cNvSpPr/>
          <p:nvPr/>
        </p:nvSpPr>
        <p:spPr>
          <a:xfrm>
            <a:off x="640080" y="2240280"/>
            <a:ext cx="566928" cy="566928"/>
          </a:xfrm>
          <a:prstGeom prst="ellipse">
            <a:avLst/>
          </a:prstGeom>
          <a:solidFill>
            <a:srgbClr val="006F3C"/>
          </a:solidFill>
          <a:ln/>
        </p:spPr>
      </p:sp>
      <p:pic>
        <p:nvPicPr>
          <p:cNvPr id="5" name="Administrateur : toute l'application icône" descr="Administrateur : toute l'application">    </p:cNvPr>
          <p:cNvPicPr>
            <a:picLocks noChangeAspect="1"/>
          </p:cNvPicPr>
          <p:nvPr/>
        </p:nvPicPr>
        <p:blipFill>
          <a:blip r:embed="rId1"/>
          <a:stretch>
            <a:fillRect/>
          </a:stretch>
        </p:blipFill>
        <p:spPr>
          <a:xfrm>
            <a:off x="781812" y="2382012"/>
            <a:ext cx="283464" cy="283464"/>
          </a:xfrm>
          <a:prstGeom prst="rect">
            <a:avLst/>
          </a:prstGeom>
        </p:spPr>
      </p:pic>
      <p:sp>
        <p:nvSpPr>
          <p:cNvPr id="6" name="Text 3"/>
          <p:cNvSpPr txBox="1"/>
          <p:nvPr/>
        </p:nvSpPr>
        <p:spPr>
          <a:xfrm>
            <a:off x="1417320" y="2194560"/>
            <a:ext cx="5486400" cy="777240"/>
          </a:xfrm>
          <a:prstGeom prst="rect">
            <a:avLst/>
          </a:prstGeom>
          <a:noFill/>
          <a:ln/>
        </p:spPr>
        <p:txBody>
          <a:bodyPr wrap="square" lIns="0" tIns="0" rIns="0" bIns="0" rtlCol="0" anchor="t"/>
          <a:lstStyle/>
          <a:p>
            <a:pPr indent="0" marL="0">
              <a:buNone/>
            </a:pPr>
            <a:r>
              <a:rPr lang="en-US" sz="1700" b="1" dirty="0">
                <a:solidFill>
                  <a:schemeClr val="bg1"/>
                </a:solidFill>
              </a:rPr>
              <a:t>admin@demo.registre.test</a:t>
            </a:r>
            <a:endParaRPr lang="en-US" sz="1700" dirty="0"/>
          </a:p>
          <a:p>
            <a:pPr indent="0" marL="0">
              <a:buNone/>
            </a:pPr>
            <a:r>
              <a:rPr lang="en-US" sz="1400" dirty="0">
                <a:solidFill>
                  <a:srgbClr val="C8EAD6"/>
                </a:solidFill>
              </a:rPr>
              <a:t>Administrateur : toute l'application</a:t>
            </a:r>
            <a:endParaRPr lang="en-US" sz="1700" dirty="0"/>
          </a:p>
        </p:txBody>
      </p:sp>
      <p:sp>
        <p:nvSpPr>
          <p:cNvPr id="7" name="Superviseur : validation des réponses cercle"/>
          <p:cNvSpPr/>
          <p:nvPr/>
        </p:nvSpPr>
        <p:spPr>
          <a:xfrm>
            <a:off x="640080" y="3200400"/>
            <a:ext cx="566928" cy="566928"/>
          </a:xfrm>
          <a:prstGeom prst="ellipse">
            <a:avLst/>
          </a:prstGeom>
          <a:solidFill>
            <a:srgbClr val="006F3C"/>
          </a:solidFill>
          <a:ln/>
        </p:spPr>
      </p:sp>
      <p:pic>
        <p:nvPicPr>
          <p:cNvPr id="8" name="Superviseur : validation des réponses icône" descr="Superviseur : validation des réponses">    </p:cNvPr>
          <p:cNvPicPr>
            <a:picLocks noChangeAspect="1"/>
          </p:cNvPicPr>
          <p:nvPr/>
        </p:nvPicPr>
        <p:blipFill>
          <a:blip r:embed="rId2"/>
          <a:stretch>
            <a:fillRect/>
          </a:stretch>
        </p:blipFill>
        <p:spPr>
          <a:xfrm>
            <a:off x="781812" y="3342132"/>
            <a:ext cx="283464" cy="283464"/>
          </a:xfrm>
          <a:prstGeom prst="rect">
            <a:avLst/>
          </a:prstGeom>
        </p:spPr>
      </p:pic>
      <p:sp>
        <p:nvSpPr>
          <p:cNvPr id="9" name="Text 5"/>
          <p:cNvSpPr txBox="1"/>
          <p:nvPr/>
        </p:nvSpPr>
        <p:spPr>
          <a:xfrm>
            <a:off x="1417320" y="3154680"/>
            <a:ext cx="5486400" cy="777240"/>
          </a:xfrm>
          <a:prstGeom prst="rect">
            <a:avLst/>
          </a:prstGeom>
          <a:noFill/>
          <a:ln/>
        </p:spPr>
        <p:txBody>
          <a:bodyPr wrap="square" lIns="0" tIns="0" rIns="0" bIns="0" rtlCol="0" anchor="t"/>
          <a:lstStyle/>
          <a:p>
            <a:pPr indent="0" marL="0">
              <a:buNone/>
            </a:pPr>
            <a:r>
              <a:rPr lang="en-US" sz="1700" b="1" dirty="0">
                <a:solidFill>
                  <a:schemeClr val="bg1"/>
                </a:solidFill>
              </a:rPr>
              <a:t>superviseur.nord@demo.registre.test</a:t>
            </a:r>
            <a:endParaRPr lang="en-US" sz="1700" dirty="0"/>
          </a:p>
          <a:p>
            <a:pPr indent="0" marL="0">
              <a:buNone/>
            </a:pPr>
            <a:r>
              <a:rPr lang="en-US" sz="1400" dirty="0">
                <a:solidFill>
                  <a:srgbClr val="C8EAD6"/>
                </a:solidFill>
              </a:rPr>
              <a:t>Superviseur : validation des réponses</a:t>
            </a:r>
            <a:endParaRPr lang="en-US" sz="1700" dirty="0"/>
          </a:p>
        </p:txBody>
      </p:sp>
      <p:sp>
        <p:nvSpPr>
          <p:cNvPr id="10" name="Agent : saisie terrain cercle"/>
          <p:cNvSpPr/>
          <p:nvPr/>
        </p:nvSpPr>
        <p:spPr>
          <a:xfrm>
            <a:off x="640080" y="4160520"/>
            <a:ext cx="566928" cy="566928"/>
          </a:xfrm>
          <a:prstGeom prst="ellipse">
            <a:avLst/>
          </a:prstGeom>
          <a:solidFill>
            <a:srgbClr val="006F3C"/>
          </a:solidFill>
          <a:ln/>
        </p:spPr>
      </p:sp>
      <p:pic>
        <p:nvPicPr>
          <p:cNvPr id="11" name="Agent : saisie terrain icône" descr="Agent : saisie terrain">    </p:cNvPr>
          <p:cNvPicPr>
            <a:picLocks noChangeAspect="1"/>
          </p:cNvPicPr>
          <p:nvPr/>
        </p:nvPicPr>
        <p:blipFill>
          <a:blip r:embed="rId3"/>
          <a:stretch>
            <a:fillRect/>
          </a:stretch>
        </p:blipFill>
        <p:spPr>
          <a:xfrm>
            <a:off x="781812" y="4302252"/>
            <a:ext cx="283464" cy="283464"/>
          </a:xfrm>
          <a:prstGeom prst="rect">
            <a:avLst/>
          </a:prstGeom>
        </p:spPr>
      </p:pic>
      <p:sp>
        <p:nvSpPr>
          <p:cNvPr id="12" name="Text 7"/>
          <p:cNvSpPr txBox="1"/>
          <p:nvPr/>
        </p:nvSpPr>
        <p:spPr>
          <a:xfrm>
            <a:off x="1417320" y="4114800"/>
            <a:ext cx="5486400" cy="777240"/>
          </a:xfrm>
          <a:prstGeom prst="rect">
            <a:avLst/>
          </a:prstGeom>
          <a:noFill/>
          <a:ln/>
        </p:spPr>
        <p:txBody>
          <a:bodyPr wrap="square" lIns="0" tIns="0" rIns="0" bIns="0" rtlCol="0" anchor="t"/>
          <a:lstStyle/>
          <a:p>
            <a:pPr indent="0" marL="0">
              <a:buNone/>
            </a:pPr>
            <a:r>
              <a:rPr lang="en-US" sz="1700" b="1" dirty="0">
                <a:solidFill>
                  <a:schemeClr val="bg1"/>
                </a:solidFill>
              </a:rPr>
              <a:t>agent1@demo.registre.test</a:t>
            </a:r>
            <a:endParaRPr lang="en-US" sz="1700" dirty="0"/>
          </a:p>
          <a:p>
            <a:pPr indent="0" marL="0">
              <a:buNone/>
            </a:pPr>
            <a:r>
              <a:rPr lang="en-US" sz="1400" dirty="0">
                <a:solidFill>
                  <a:srgbClr val="C8EAD6"/>
                </a:solidFill>
              </a:rPr>
              <a:t>Agent : saisie terrain</a:t>
            </a:r>
            <a:endParaRPr lang="en-US" sz="1700" dirty="0"/>
          </a:p>
        </p:txBody>
      </p:sp>
      <p:sp>
        <p:nvSpPr>
          <p:cNvPr id="13" name="code source cercle"/>
          <p:cNvSpPr/>
          <p:nvPr/>
        </p:nvSpPr>
        <p:spPr>
          <a:xfrm>
            <a:off x="640080" y="5257800"/>
            <a:ext cx="566928" cy="566928"/>
          </a:xfrm>
          <a:prstGeom prst="ellipse">
            <a:avLst/>
          </a:prstGeom>
          <a:solidFill>
            <a:srgbClr val="006F3C"/>
          </a:solidFill>
          <a:ln/>
        </p:spPr>
      </p:sp>
      <p:pic>
        <p:nvPicPr>
          <p:cNvPr id="14" name="code source icône" descr="code source">    </p:cNvPr>
          <p:cNvPicPr>
            <a:picLocks noChangeAspect="1"/>
          </p:cNvPicPr>
          <p:nvPr/>
        </p:nvPicPr>
        <p:blipFill>
          <a:blip r:embed="rId4"/>
          <a:stretch>
            <a:fillRect/>
          </a:stretch>
        </p:blipFill>
        <p:spPr>
          <a:xfrm>
            <a:off x="781812" y="5399532"/>
            <a:ext cx="283464" cy="283464"/>
          </a:xfrm>
          <a:prstGeom prst="rect">
            <a:avLst/>
          </a:prstGeom>
        </p:spPr>
      </p:pic>
      <p:sp>
        <p:nvSpPr>
          <p:cNvPr id="15" name="Text 9"/>
          <p:cNvSpPr txBox="1"/>
          <p:nvPr/>
        </p:nvSpPr>
        <p:spPr>
          <a:xfrm>
            <a:off x="1417320" y="5212080"/>
            <a:ext cx="5486400" cy="777240"/>
          </a:xfrm>
          <a:prstGeom prst="rect">
            <a:avLst/>
          </a:prstGeom>
          <a:noFill/>
          <a:ln/>
        </p:spPr>
        <p:txBody>
          <a:bodyPr wrap="square" lIns="0" tIns="0" rIns="0" bIns="0" rtlCol="0" anchor="t"/>
          <a:lstStyle/>
          <a:p>
            <a:pPr indent="0" marL="0">
              <a:buNone/>
            </a:pPr>
            <a:r>
              <a:rPr lang="en-US" sz="1700" b="1" dirty="0">
                <a:solidFill>
                  <a:schemeClr val="bg1"/>
                </a:solidFill>
              </a:rPr>
              <a:t>Code source et guide d'installation</a:t>
            </a:r>
            <a:endParaRPr lang="en-US" sz="1700" dirty="0"/>
          </a:p>
          <a:p>
            <a:pPr indent="0" marL="0">
              <a:buNone/>
            </a:pPr>
            <a:r>
              <a:rPr lang="en-US" sz="1400" dirty="0">
                <a:solidFill>
                  <a:srgbClr val="C8EAD6"/>
                </a:solidFill>
              </a:rPr>
              <a:t>github.com/moulayeidrisse-rgb/registre-collecte</a:t>
            </a:r>
            <a:endParaRPr lang="en-US" sz="1700" dirty="0"/>
          </a:p>
        </p:txBody>
      </p:sp>
      <p:pic>
        <p:nvPicPr>
          <p:cNvPr id="16" name="Capture mobile" descr="Application sur téléphone">    </p:cNvPr>
          <p:cNvPicPr>
            <a:picLocks noChangeAspect="1"/>
          </p:cNvPicPr>
          <p:nvPr/>
        </p:nvPicPr>
        <p:blipFill>
          <a:blip r:embed="rId5"/>
          <a:stretch>
            <a:fillRect/>
          </a:stretch>
        </p:blipFill>
        <p:spPr>
          <a:xfrm>
            <a:off x="8549640" y="777240"/>
            <a:ext cx="2514600" cy="5441852"/>
          </a:xfrm>
          <a:prstGeom prst="rect">
            <a:avLst/>
          </a:prstGeom>
        </p:spPr>
      </p:pic>
    </p:spTree>
  </p:cSld>
  <p:clrMapOvr>
    <a:masterClrMapping/>
  </p:clrMapOvr>
</p:sld>
</file>

<file path=ppt/theme/theme1.xml><?xml version="1.0" encoding="utf-8"?>
<a:theme xmlns:a="http://schemas.openxmlformats.org/drawingml/2006/main" name="Registre Collecte">
  <a:themeElements>
    <a:clrScheme name="Registre Collecte">
      <a:dk1>
        <a:srgbClr val="1E2430"/>
      </a:dk1>
      <a:lt1>
        <a:srgbClr val="FFFFFF"/>
      </a:lt1>
      <a:dk2>
        <a:srgbClr val="003D22"/>
      </a:dk2>
      <a:lt2>
        <a:srgbClr val="EAF5EE"/>
      </a:lt2>
      <a:accent1>
        <a:srgbClr val="006F3C"/>
      </a:accent1>
      <a:accent2>
        <a:srgbClr val="D99A00"/>
      </a:accent2>
      <a:accent3>
        <a:srgbClr val="C8102E"/>
      </a:accent3>
      <a:accent4>
        <a:srgbClr val="2A78D6"/>
      </a:accent4>
      <a:accent5>
        <a:srgbClr val="00A95C"/>
      </a:accent5>
      <a:accent6>
        <a:srgbClr val="5B6475"/>
      </a:accent6>
      <a:hlink>
        <a:srgbClr val="006F3C"/>
      </a:hlink>
      <a:folHlink>
        <a:srgbClr val="005A31"/>
      </a:folHlink>
    </a:clrScheme>
    <a:fontScheme name="Registre Collec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Registre Collecte — présentation du prototype</dc:title>
  <dc:subject>Modules de collecte de données — MVP de démonstration (données fictives)</dc:subject>
  <dc:creator>Registre Collecte</dc:creator>
  <cp:lastModifiedBy>Registre Collecte</cp:lastModifiedBy>
  <cp:revision>1</cp:revision>
  <dcterms:created xsi:type="dcterms:W3CDTF">2026-10-21T04:17:36Z</dcterms:created>
  <dcterms:modified xsi:type="dcterms:W3CDTF">2026-10-21T04:17:36Z</dcterms:modified>
</cp:coreProperties>
</file>